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Inter" panose="020B0604020202020204" charset="0"/>
      <p:bold r:id="rId13"/>
      <p:boldItalic r:id="rId14"/>
    </p:embeddedFont>
    <p:embeddedFont>
      <p:font typeface="Inter Medium" panose="020B0604020202020204" charset="0"/>
      <p:regular r:id="rId15"/>
      <p:bold r:id="rId16"/>
      <p:italic r:id="rId17"/>
      <p:boldItalic r:id="rId18"/>
    </p:embeddedFont>
    <p:embeddedFont>
      <p:font typeface="Inter SemiBold" panose="020B0604020202020204" charset="0"/>
      <p:regular r:id="rId19"/>
      <p:bold r:id="rId20"/>
      <p:italic r:id="rId21"/>
      <p:boldItalic r:id="rId22"/>
    </p:embeddedFont>
    <p:embeddedFont>
      <p:font typeface="Montserrat" panose="00000500000000000000" pitchFamily="2" charset="0"/>
      <p:regular r:id="rId23"/>
      <p:bold r:id="rId24"/>
      <p:italic r:id="rId25"/>
      <p:boldItalic r:id="rId26"/>
    </p:embeddedFont>
    <p:embeddedFont>
      <p:font typeface="Montserrat ExtraBold" panose="00000900000000000000" pitchFamily="2" charset="0"/>
      <p:bold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juWDUgk/SctqQ6tbBBLS6aX9cXt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font" Target="fonts/font9.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GB"/>
              <a:t>Good morning. My project predicts tourist arrivals in Sri Lanka using a hybrid machine learning model and compares its performance during crises, like COVID-19 and the Easter attacks, with the current forecasting method.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GB"/>
              <a:t>Tourism is one of Sri Lanka's main sources of foreign income. However, events like the Easter attacks, COVID-19, and the economic crisis caused sudden drops in tourist arrivals. The current forecasting method, SARIMA, works well during normal times but is not very accurate during crisis periods because it relies on past patterns.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GB"/>
              <a:t>There is a gap in current research. No study has developed and tested a model for predicting Sri Lankan tourist arrivals during crisis periods. Also, no published research has combined LSTM and XGBoost for this purpose. This project aims to fill that gap by creating a more accurate forecasting model for Sri Lanka.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a:solidFill>
                  <a:schemeClr val="dk1"/>
                </a:solidFill>
              </a:rPr>
              <a:t>My research question is simple: </a:t>
            </a:r>
            <a:r>
              <a:rPr lang="en-GB" b="1">
                <a:solidFill>
                  <a:schemeClr val="dk1"/>
                </a:solidFill>
              </a:rPr>
              <a:t>does combining LSTM and XGBoost predict tourist arrivals better than the current SARIMA method — both normally, and during crises?</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GB">
                <a:solidFill>
                  <a:schemeClr val="dk1"/>
                </a:solidFill>
              </a:rPr>
              <a:t>To answer this, I have four objectives: first, build the dataset; second, develop the baseline models for comparison; third, build the hybrid model; and finally, evaluate the models for both stable and shock months using SHAP to explain the predictions.</a:t>
            </a:r>
            <a:endParaRPr>
              <a:solidFill>
                <a:schemeClr val="dk1"/>
              </a:solidFill>
            </a:endParaRPr>
          </a:p>
          <a:p>
            <a:pPr marL="0" lvl="0" indent="0" algn="l" rtl="0">
              <a:lnSpc>
                <a:spcPct val="100000"/>
              </a:lnSpc>
              <a:spcBef>
                <a:spcPts val="1200"/>
              </a:spcBef>
              <a:spcAft>
                <a:spcPts val="0"/>
              </a:spcAft>
              <a:buSzPts val="14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a:t>All my data comes from public sources, with no surveys or participants involved. The main dataset is SLTDA monthly tourist arrival reports from 2015 onward. I also use Central Bank exchange rate data and Google Trends search data to improve the predictions. In addition, I marked the shock periods to evaluate the model separately.</a:t>
            </a:r>
            <a:endParaRPr/>
          </a:p>
          <a:p>
            <a:pPr marL="0" lvl="0" indent="0" algn="l" rtl="0">
              <a:lnSpc>
                <a:spcPct val="100000"/>
              </a:lnSpc>
              <a:spcBef>
                <a:spcPts val="1200"/>
              </a:spcBef>
              <a:spcAft>
                <a:spcPts val="0"/>
              </a:spcAft>
              <a:buSzPts val="14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a:solidFill>
                  <a:schemeClr val="dk1"/>
                </a:solidFill>
              </a:rPr>
              <a:t>My model combines </a:t>
            </a:r>
            <a:r>
              <a:rPr lang="en-GB" b="1">
                <a:solidFill>
                  <a:schemeClr val="dk1"/>
                </a:solidFill>
              </a:rPr>
              <a:t>LSTM</a:t>
            </a:r>
            <a:r>
              <a:rPr lang="en-GB">
                <a:solidFill>
                  <a:schemeClr val="dk1"/>
                </a:solidFill>
              </a:rPr>
              <a:t> and </a:t>
            </a:r>
            <a:r>
              <a:rPr lang="en-GB" b="1">
                <a:solidFill>
                  <a:schemeClr val="dk1"/>
                </a:solidFill>
              </a:rPr>
              <a:t>XGBoost</a:t>
            </a:r>
            <a:r>
              <a:rPr lang="en-GB">
                <a:solidFill>
                  <a:schemeClr val="dk1"/>
                </a:solidFill>
              </a:rPr>
              <a:t>. LSTM learns patterns over time, such as tourist arrivals increasing every December. XGBoost uses other factors like exchange rates, Google Trends, and crisis periods to improve the prediction. First, LSTM makes a prediction, then XGBoost adjusts it using the additional information to produce the final result.</a:t>
            </a:r>
            <a:endParaRPr>
              <a:solidFill>
                <a:schemeClr val="dk1"/>
              </a:solidFill>
            </a:endParaRPr>
          </a:p>
          <a:p>
            <a:pPr marL="0" lvl="0" indent="0" algn="l" rtl="0">
              <a:lnSpc>
                <a:spcPct val="100000"/>
              </a:lnSpc>
              <a:spcBef>
                <a:spcPts val="120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f830a837a6_0_7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g3f830a837a6_0_7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a:t>To test the models fairly, I trained them on older data and tested them on newer, unseen data, just like real-world forecasting. I will measure accuracy using three standard metrics for stable and shock months. I will also use the Diebold-Mariano test to verify whether the improvement is statistically significant, and SHAP to explain how the model makes its predictions.</a:t>
            </a:r>
            <a:endParaRPr/>
          </a:p>
          <a:p>
            <a:pPr marL="0" lvl="0" indent="0" algn="l" rtl="0">
              <a:spcBef>
                <a:spcPts val="120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a:t>By the end of this project, I expect to develop a hybrid forecasting model and show whether it performs better than the current method, especially during crisis periods. This research can also help SLTDA and tourism businesses improve their planning and decision-making.</a:t>
            </a:r>
            <a:endParaRPr/>
          </a:p>
          <a:p>
            <a:pPr marL="0" lvl="0" indent="0" algn="l" rtl="0">
              <a:lnSpc>
                <a:spcPct val="100000"/>
              </a:lnSpc>
              <a:spcBef>
                <a:spcPts val="120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GB" dirty="0"/>
              <a:t>This is my project timeline. I have completed the first 3 weeks, including defining the research problem, reviewing the literature, and preparing the research proposal. The remaining 12 weeks will focus on developing the models, evaluating their performance, and completing the final report.</a:t>
            </a:r>
            <a:endParaRPr dirty="0"/>
          </a:p>
          <a:p>
            <a:pPr marL="0" lvl="0" indent="0" algn="l" rtl="0">
              <a:lnSpc>
                <a:spcPct val="100000"/>
              </a:lnSpc>
              <a:spcBef>
                <a:spcPts val="1200"/>
              </a:spcBef>
              <a:spcAft>
                <a:spcPts val="0"/>
              </a:spcAft>
              <a:buSzPts val="1400"/>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f830a837a6_0_33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g3f830a837a6_0_33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Thank you</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7"/>
        <p:cNvGrpSpPr/>
        <p:nvPr/>
      </p:nvGrpSpPr>
      <p:grpSpPr>
        <a:xfrm>
          <a:off x="0" y="0"/>
          <a:ext cx="0" cy="0"/>
          <a:chOff x="0" y="0"/>
          <a:chExt cx="0" cy="0"/>
        </a:xfrm>
      </p:grpSpPr>
      <p:sp>
        <p:nvSpPr>
          <p:cNvPr id="18" name="Google Shape;18;p14"/>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9" name="Google Shape;19;p14"/>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0" name="Google Shape;20;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3" name="Google Shape;23;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 name="Google Shape;26;p1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7" name="Google Shape;27;p1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8" name="Google Shape;28;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 name="Google Shape;3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1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1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OC">
  <p:cSld name="SECTION_HEADER_1">
    <p:spTree>
      <p:nvGrpSpPr>
        <p:cNvPr id="1" name="Shape 50"/>
        <p:cNvGrpSpPr/>
        <p:nvPr/>
      </p:nvGrpSpPr>
      <p:grpSpPr>
        <a:xfrm>
          <a:off x="0" y="0"/>
          <a:ext cx="0" cy="0"/>
          <a:chOff x="0" y="0"/>
          <a:chExt cx="0" cy="0"/>
        </a:xfrm>
      </p:grpSpPr>
      <p:grpSp>
        <p:nvGrpSpPr>
          <p:cNvPr id="51" name="Google Shape;51;p23"/>
          <p:cNvGrpSpPr/>
          <p:nvPr/>
        </p:nvGrpSpPr>
        <p:grpSpPr>
          <a:xfrm>
            <a:off x="4406400" y="0"/>
            <a:ext cx="4737600" cy="5143065"/>
            <a:chOff x="4406400" y="0"/>
            <a:chExt cx="4737600" cy="5143065"/>
          </a:xfrm>
        </p:grpSpPr>
        <p:sp>
          <p:nvSpPr>
            <p:cNvPr id="52" name="Google Shape;52;p23"/>
            <p:cNvSpPr/>
            <p:nvPr/>
          </p:nvSpPr>
          <p:spPr>
            <a:xfrm rot="5400000">
              <a:off x="4408200" y="-1800"/>
              <a:ext cx="4734000" cy="4737600"/>
            </a:xfrm>
            <a:prstGeom prst="diagStripe">
              <a:avLst>
                <a:gd name="adj" fmla="val 49469"/>
              </a:avLst>
            </a:prstGeom>
            <a:solidFill>
              <a:schemeClr val="lt1">
                <a:alpha val="352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23"/>
            <p:cNvSpPr/>
            <p:nvPr/>
          </p:nvSpPr>
          <p:spPr>
            <a:xfrm rot="5400000">
              <a:off x="4841125" y="5700"/>
              <a:ext cx="4298100" cy="4286700"/>
            </a:xfrm>
            <a:prstGeom prst="diagStripe">
              <a:avLst>
                <a:gd name="adj" fmla="val 0"/>
              </a:avLst>
            </a:prstGeom>
            <a:solidFill>
              <a:schemeClr val="lt1">
                <a:alpha val="3529"/>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23"/>
            <p:cNvSpPr/>
            <p:nvPr/>
          </p:nvSpPr>
          <p:spPr>
            <a:xfrm rot="-5400000">
              <a:off x="5618399" y="1236468"/>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3"/>
            <p:cNvSpPr/>
            <p:nvPr/>
          </p:nvSpPr>
          <p:spPr>
            <a:xfrm flipH="1">
              <a:off x="5849857" y="1443956"/>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23"/>
            <p:cNvSpPr/>
            <p:nvPr/>
          </p:nvSpPr>
          <p:spPr>
            <a:xfrm rot="-5400000">
              <a:off x="5987081" y="2469465"/>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23"/>
            <p:cNvSpPr/>
            <p:nvPr/>
          </p:nvSpPr>
          <p:spPr>
            <a:xfrm flipH="1">
              <a:off x="6222115" y="2676953"/>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3"/>
            <p:cNvSpPr/>
            <p:nvPr/>
          </p:nvSpPr>
          <p:spPr>
            <a:xfrm rot="-5400000">
              <a:off x="6675341" y="1862018"/>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2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23"/>
            <p:cNvSpPr/>
            <p:nvPr/>
          </p:nvSpPr>
          <p:spPr>
            <a:xfrm rot="-5400000">
              <a:off x="6861141" y="2477810"/>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3"/>
            <p:cNvSpPr/>
            <p:nvPr/>
          </p:nvSpPr>
          <p:spPr>
            <a:xfrm flipH="1">
              <a:off x="7965266" y="2692963"/>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23"/>
            <p:cNvSpPr/>
            <p:nvPr/>
          </p:nvSpPr>
          <p:spPr>
            <a:xfrm flipH="1">
              <a:off x="8145082" y="3308755"/>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23"/>
            <p:cNvSpPr/>
            <p:nvPr/>
          </p:nvSpPr>
          <p:spPr>
            <a:xfrm rot="-5400000">
              <a:off x="7047599" y="3095015"/>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23"/>
            <p:cNvSpPr/>
            <p:nvPr/>
          </p:nvSpPr>
          <p:spPr>
            <a:xfrm flipH="1">
              <a:off x="7276649" y="3302502"/>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2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23"/>
            <p:cNvSpPr/>
            <p:nvPr/>
          </p:nvSpPr>
          <p:spPr>
            <a:xfrm flipH="1">
              <a:off x="7462448" y="3918294"/>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23"/>
            <p:cNvSpPr/>
            <p:nvPr/>
          </p:nvSpPr>
          <p:spPr>
            <a:xfrm rot="-5400000">
              <a:off x="8102491" y="3718473"/>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23"/>
            <p:cNvSpPr/>
            <p:nvPr/>
          </p:nvSpPr>
          <p:spPr>
            <a:xfrm flipH="1">
              <a:off x="8334533" y="3925960"/>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23"/>
            <p:cNvSpPr/>
            <p:nvPr/>
          </p:nvSpPr>
          <p:spPr>
            <a:xfrm rot="-5400000">
              <a:off x="8288290" y="4334265"/>
              <a:ext cx="808800" cy="808800"/>
            </a:xfrm>
            <a:prstGeom prst="diagStripe">
              <a:avLst>
                <a:gd name="adj" fmla="val 50000"/>
              </a:avLst>
            </a:prstGeom>
            <a:solidFill>
              <a:schemeClr val="lt1">
                <a:alpha val="7451"/>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0" name="Google Shape;70;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1" name="Google Shape;71;p23"/>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_alt3">
  <p:cSld name="TITLE_AND_BODY_1">
    <p:spTree>
      <p:nvGrpSpPr>
        <p:cNvPr id="1" name="Shape 72"/>
        <p:cNvGrpSpPr/>
        <p:nvPr/>
      </p:nvGrpSpPr>
      <p:grpSpPr>
        <a:xfrm>
          <a:off x="0" y="0"/>
          <a:ext cx="0" cy="0"/>
          <a:chOff x="0" y="0"/>
          <a:chExt cx="0" cy="0"/>
        </a:xfrm>
      </p:grpSpPr>
      <p:pic>
        <p:nvPicPr>
          <p:cNvPr id="73" name="Google Shape;73;p24" descr="offset_comp_343059.jpg"/>
          <p:cNvPicPr preferRelativeResize="0"/>
          <p:nvPr/>
        </p:nvPicPr>
        <p:blipFill rotWithShape="1">
          <a:blip r:embed="rId2">
            <a:alphaModFix amt="80000"/>
          </a:blip>
          <a:srcRect l="30475" t="11956" r="30475" b="25870"/>
          <a:stretch/>
        </p:blipFill>
        <p:spPr>
          <a:xfrm rot="-5400000">
            <a:off x="113630" y="-105700"/>
            <a:ext cx="5142300" cy="5364300"/>
          </a:xfrm>
          <a:prstGeom prst="diagStripe">
            <a:avLst>
              <a:gd name="adj" fmla="val 50343"/>
            </a:avLst>
          </a:prstGeom>
          <a:noFill/>
          <a:ln>
            <a:noFill/>
          </a:ln>
        </p:spPr>
      </p:pic>
      <p:sp>
        <p:nvSpPr>
          <p:cNvPr id="74" name="Google Shape;74;p24"/>
          <p:cNvSpPr txBox="1">
            <a:spLocks noGrp="1"/>
          </p:cNvSpPr>
          <p:nvPr>
            <p:ph type="title"/>
          </p:nvPr>
        </p:nvSpPr>
        <p:spPr>
          <a:xfrm>
            <a:off x="1297500" y="393750"/>
            <a:ext cx="7038900" cy="914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24"/>
          <p:cNvSpPr txBox="1">
            <a:spLocks noGrp="1"/>
          </p:cNvSpPr>
          <p:nvPr>
            <p:ph type="body" idx="1"/>
          </p:nvPr>
        </p:nvSpPr>
        <p:spPr>
          <a:xfrm>
            <a:off x="4018025" y="1567550"/>
            <a:ext cx="4318500" cy="17667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Clr>
                <a:schemeClr val="dk2"/>
              </a:buClr>
              <a:buSzPts val="1800"/>
              <a:buChar char="●"/>
              <a:defRPr>
                <a:solidFill>
                  <a:schemeClr val="dk2"/>
                </a:solidFill>
              </a:defRPr>
            </a:lvl1pPr>
            <a:lvl2pPr marL="914400" lvl="1" indent="-317500" algn="l">
              <a:lnSpc>
                <a:spcPct val="115000"/>
              </a:lnSpc>
              <a:spcBef>
                <a:spcPts val="0"/>
              </a:spcBef>
              <a:spcAft>
                <a:spcPts val="0"/>
              </a:spcAft>
              <a:buClr>
                <a:schemeClr val="dk2"/>
              </a:buClr>
              <a:buSzPts val="1400"/>
              <a:buChar char="○"/>
              <a:defRPr>
                <a:solidFill>
                  <a:schemeClr val="dk2"/>
                </a:solidFill>
              </a:defRPr>
            </a:lvl2pPr>
            <a:lvl3pPr marL="1371600" lvl="2" indent="-317500" algn="l">
              <a:lnSpc>
                <a:spcPct val="115000"/>
              </a:lnSpc>
              <a:spcBef>
                <a:spcPts val="0"/>
              </a:spcBef>
              <a:spcAft>
                <a:spcPts val="0"/>
              </a:spcAft>
              <a:buClr>
                <a:schemeClr val="dk2"/>
              </a:buClr>
              <a:buSzPts val="1400"/>
              <a:buChar char="■"/>
              <a:defRPr>
                <a:solidFill>
                  <a:schemeClr val="dk2"/>
                </a:solidFill>
              </a:defRPr>
            </a:lvl3pPr>
            <a:lvl4pPr marL="1828800" lvl="3" indent="-317500" algn="l">
              <a:lnSpc>
                <a:spcPct val="115000"/>
              </a:lnSpc>
              <a:spcBef>
                <a:spcPts val="0"/>
              </a:spcBef>
              <a:spcAft>
                <a:spcPts val="0"/>
              </a:spcAft>
              <a:buClr>
                <a:schemeClr val="dk2"/>
              </a:buClr>
              <a:buSzPts val="1400"/>
              <a:buChar char="●"/>
              <a:defRPr>
                <a:solidFill>
                  <a:schemeClr val="dk2"/>
                </a:solidFill>
              </a:defRPr>
            </a:lvl4pPr>
            <a:lvl5pPr marL="2286000" lvl="4" indent="-317500" algn="l">
              <a:lnSpc>
                <a:spcPct val="115000"/>
              </a:lnSpc>
              <a:spcBef>
                <a:spcPts val="0"/>
              </a:spcBef>
              <a:spcAft>
                <a:spcPts val="0"/>
              </a:spcAft>
              <a:buClr>
                <a:schemeClr val="dk2"/>
              </a:buClr>
              <a:buSzPts val="1400"/>
              <a:buChar char="○"/>
              <a:defRPr>
                <a:solidFill>
                  <a:schemeClr val="dk2"/>
                </a:solidFill>
              </a:defRPr>
            </a:lvl5pPr>
            <a:lvl6pPr marL="2743200" lvl="5" indent="-317500" algn="l">
              <a:lnSpc>
                <a:spcPct val="115000"/>
              </a:lnSpc>
              <a:spcBef>
                <a:spcPts val="0"/>
              </a:spcBef>
              <a:spcAft>
                <a:spcPts val="0"/>
              </a:spcAft>
              <a:buClr>
                <a:schemeClr val="dk2"/>
              </a:buClr>
              <a:buSzPts val="1400"/>
              <a:buChar char="■"/>
              <a:defRPr>
                <a:solidFill>
                  <a:schemeClr val="dk2"/>
                </a:solidFill>
              </a:defRPr>
            </a:lvl6pPr>
            <a:lvl7pPr marL="3200400" lvl="6" indent="-317500" algn="l">
              <a:lnSpc>
                <a:spcPct val="115000"/>
              </a:lnSpc>
              <a:spcBef>
                <a:spcPts val="0"/>
              </a:spcBef>
              <a:spcAft>
                <a:spcPts val="0"/>
              </a:spcAft>
              <a:buClr>
                <a:schemeClr val="dk2"/>
              </a:buClr>
              <a:buSzPts val="1400"/>
              <a:buChar char="●"/>
              <a:defRPr>
                <a:solidFill>
                  <a:schemeClr val="dk2"/>
                </a:solidFill>
              </a:defRPr>
            </a:lvl7pPr>
            <a:lvl8pPr marL="3657600" lvl="7" indent="-317500" algn="l">
              <a:lnSpc>
                <a:spcPct val="115000"/>
              </a:lnSpc>
              <a:spcBef>
                <a:spcPts val="0"/>
              </a:spcBef>
              <a:spcAft>
                <a:spcPts val="0"/>
              </a:spcAft>
              <a:buClr>
                <a:schemeClr val="dk2"/>
              </a:buClr>
              <a:buSzPts val="1400"/>
              <a:buChar char="○"/>
              <a:defRPr>
                <a:solidFill>
                  <a:schemeClr val="dk2"/>
                </a:solidFill>
              </a:defRPr>
            </a:lvl8pPr>
            <a:lvl9pPr marL="4114800" lvl="8" indent="-317500" algn="l">
              <a:lnSpc>
                <a:spcPct val="115000"/>
              </a:lnSpc>
              <a:spcBef>
                <a:spcPts val="0"/>
              </a:spcBef>
              <a:spcAft>
                <a:spcPts val="0"/>
              </a:spcAft>
              <a:buClr>
                <a:schemeClr val="dk2"/>
              </a:buClr>
              <a:buSzPts val="1400"/>
              <a:buChar char="■"/>
              <a:defRPr>
                <a:solidFill>
                  <a:schemeClr val="dk2"/>
                </a:solidFill>
              </a:defRPr>
            </a:lvl9pPr>
          </a:lstStyle>
          <a:p>
            <a:endParaRPr/>
          </a:p>
        </p:txBody>
      </p:sp>
      <p:sp>
        <p:nvSpPr>
          <p:cNvPr id="76" name="Google Shape;7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7" name="Google Shape;77;p24"/>
          <p:cNvSpPr/>
          <p:nvPr/>
        </p:nvSpPr>
        <p:spPr>
          <a:xfrm>
            <a:off x="0" y="0"/>
            <a:ext cx="632700" cy="588600"/>
          </a:xfrm>
          <a:prstGeom prst="rect">
            <a:avLst/>
          </a:prstGeom>
          <a:solidFill>
            <a:srgbClr val="1B212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24"/>
          <p:cNvSpPr/>
          <p:nvPr/>
        </p:nvSpPr>
        <p:spPr>
          <a:xfrm>
            <a:off x="212050" y="221751"/>
            <a:ext cx="219600" cy="18900"/>
          </a:xfrm>
          <a:prstGeom prst="rect">
            <a:avLst/>
          </a:prstGeom>
          <a:solidFill>
            <a:srgbClr val="55688B">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24"/>
          <p:cNvSpPr/>
          <p:nvPr/>
        </p:nvSpPr>
        <p:spPr>
          <a:xfrm>
            <a:off x="212050" y="284225"/>
            <a:ext cx="219600" cy="18900"/>
          </a:xfrm>
          <a:prstGeom prst="rect">
            <a:avLst/>
          </a:prstGeom>
          <a:solidFill>
            <a:srgbClr val="55688B">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24"/>
          <p:cNvSpPr/>
          <p:nvPr/>
        </p:nvSpPr>
        <p:spPr>
          <a:xfrm>
            <a:off x="212050" y="346699"/>
            <a:ext cx="219600" cy="18900"/>
          </a:xfrm>
          <a:prstGeom prst="rect">
            <a:avLst/>
          </a:prstGeom>
          <a:solidFill>
            <a:srgbClr val="55688B">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1" name="Google Shape;81;p24"/>
          <p:cNvGrpSpPr/>
          <p:nvPr/>
        </p:nvGrpSpPr>
        <p:grpSpPr>
          <a:xfrm>
            <a:off x="0" y="381001"/>
            <a:ext cx="1037850" cy="1016288"/>
            <a:chOff x="0" y="381001"/>
            <a:chExt cx="1037850" cy="1016288"/>
          </a:xfrm>
        </p:grpSpPr>
        <p:sp>
          <p:nvSpPr>
            <p:cNvPr id="82" name="Google Shape;82;p2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2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Generated (g3f830a837a6_38_0)">
  <p:cSld name="Generated (g3f830a837a6_38_0)">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sp>
        <p:nvSpPr>
          <p:cNvPr id="89" name="Google Shape;89;p1"/>
          <p:cNvSpPr txBox="1"/>
          <p:nvPr/>
        </p:nvSpPr>
        <p:spPr>
          <a:xfrm>
            <a:off x="571500" y="762000"/>
            <a:ext cx="43815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00F0FF"/>
                </a:solidFill>
                <a:latin typeface="Inter"/>
                <a:ea typeface="Inter"/>
                <a:cs typeface="Inter"/>
                <a:sym typeface="Inter"/>
              </a:rPr>
              <a:t>Research Thesis Presentation</a:t>
            </a:r>
            <a:endParaRPr>
              <a:latin typeface="Montserrat"/>
              <a:ea typeface="Montserrat"/>
              <a:cs typeface="Montserrat"/>
              <a:sym typeface="Montserrat"/>
            </a:endParaRPr>
          </a:p>
          <a:p>
            <a:pPr marL="0" lvl="0" indent="0" algn="l" rtl="0">
              <a:spcBef>
                <a:spcPts val="0"/>
              </a:spcBef>
              <a:spcAft>
                <a:spcPts val="0"/>
              </a:spcAft>
              <a:buNone/>
            </a:pPr>
            <a:r>
              <a:rPr lang="en-GB" sz="2800" b="0">
                <a:solidFill>
                  <a:srgbClr val="FFFFFF"/>
                </a:solidFill>
                <a:latin typeface="Montserrat ExtraBold"/>
                <a:ea typeface="Montserrat ExtraBold"/>
                <a:cs typeface="Montserrat ExtraBold"/>
                <a:sym typeface="Montserrat ExtraBold"/>
              </a:rPr>
              <a:t>Forecasting Sri Lankan Tourist Arrivals</a:t>
            </a:r>
            <a:endParaRPr sz="2800" b="0">
              <a:solidFill>
                <a:srgbClr val="FFFFFF"/>
              </a:solidFill>
              <a:latin typeface="Montserrat ExtraBold"/>
              <a:ea typeface="Montserrat ExtraBold"/>
              <a:cs typeface="Montserrat ExtraBold"/>
              <a:sym typeface="Montserrat ExtraBold"/>
            </a:endParaRPr>
          </a:p>
          <a:p>
            <a:pPr marL="0" lvl="0" indent="0" algn="l" rtl="0">
              <a:spcBef>
                <a:spcPts val="1125"/>
              </a:spcBef>
              <a:spcAft>
                <a:spcPts val="0"/>
              </a:spcAft>
              <a:buNone/>
            </a:pPr>
            <a:r>
              <a:rPr lang="en-GB" sz="1400" b="0">
                <a:solidFill>
                  <a:srgbClr val="94A3B8"/>
                </a:solidFill>
                <a:latin typeface="Inter"/>
                <a:ea typeface="Inter"/>
                <a:cs typeface="Inter"/>
                <a:sym typeface="Inter"/>
              </a:rPr>
              <a:t>via Hybrid LSTM–XGBoost Ensemble Architectures Under Exogenous Shock Conditions</a:t>
            </a:r>
            <a:endParaRPr sz="1400" b="0">
              <a:solidFill>
                <a:srgbClr val="94A3B8"/>
              </a:solidFill>
              <a:latin typeface="Inter"/>
              <a:ea typeface="Inter"/>
              <a:cs typeface="Inter"/>
              <a:sym typeface="Inter"/>
            </a:endParaRPr>
          </a:p>
        </p:txBody>
      </p:sp>
      <p:sp>
        <p:nvSpPr>
          <p:cNvPr id="90" name="Google Shape;90;p1"/>
          <p:cNvSpPr txBox="1"/>
          <p:nvPr/>
        </p:nvSpPr>
        <p:spPr>
          <a:xfrm>
            <a:off x="571500" y="3714750"/>
            <a:ext cx="43815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200" b="0">
                <a:solidFill>
                  <a:srgbClr val="E2E8F0"/>
                </a:solidFill>
                <a:latin typeface="Inter SemiBold"/>
                <a:ea typeface="Inter SemiBold"/>
                <a:cs typeface="Inter SemiBold"/>
                <a:sym typeface="Inter SemiBold"/>
              </a:rPr>
              <a:t>S M K I Wijethunga</a:t>
            </a:r>
            <a:endParaRPr sz="1200" b="0">
              <a:solidFill>
                <a:srgbClr val="E2E8F0"/>
              </a:solidFill>
              <a:latin typeface="Inter SemiBold"/>
              <a:ea typeface="Inter SemiBold"/>
              <a:cs typeface="Inter SemiBold"/>
              <a:sym typeface="Inter SemiBold"/>
            </a:endParaRPr>
          </a:p>
          <a:p>
            <a:pPr marL="0" lvl="0" indent="0" algn="l" rtl="0">
              <a:spcBef>
                <a:spcPts val="300"/>
              </a:spcBef>
              <a:spcAft>
                <a:spcPts val="0"/>
              </a:spcAft>
              <a:buNone/>
            </a:pPr>
            <a:r>
              <a:rPr lang="en-GB" sz="1000">
                <a:solidFill>
                  <a:srgbClr val="64748B"/>
                </a:solidFill>
                <a:latin typeface="Inter Medium"/>
                <a:ea typeface="Inter Medium"/>
                <a:cs typeface="Inter Medium"/>
                <a:sym typeface="Inter Medium"/>
              </a:rPr>
              <a:t>Index No</a:t>
            </a:r>
            <a:r>
              <a:rPr lang="en-GB" sz="1000" b="0">
                <a:solidFill>
                  <a:srgbClr val="64748B"/>
                </a:solidFill>
                <a:latin typeface="Inter Medium"/>
                <a:ea typeface="Inter Medium"/>
                <a:cs typeface="Inter Medium"/>
                <a:sym typeface="Inter Medium"/>
              </a:rPr>
              <a:t>: KIC-BSCCSAI-251P-034</a:t>
            </a:r>
            <a:endParaRPr sz="1000" b="0">
              <a:solidFill>
                <a:srgbClr val="64748B"/>
              </a:solidFill>
              <a:latin typeface="Inter Medium"/>
              <a:ea typeface="Inter Medium"/>
              <a:cs typeface="Inter Medium"/>
              <a:sym typeface="Inter Medium"/>
            </a:endParaRPr>
          </a:p>
        </p:txBody>
      </p:sp>
      <p:grpSp>
        <p:nvGrpSpPr>
          <p:cNvPr id="91" name="Google Shape;91;p1"/>
          <p:cNvGrpSpPr/>
          <p:nvPr/>
        </p:nvGrpSpPr>
        <p:grpSpPr>
          <a:xfrm>
            <a:off x="5324475" y="371475"/>
            <a:ext cx="3257700" cy="4400699"/>
            <a:chOff x="-9525" y="-9525"/>
            <a:chExt cx="3257700" cy="4400699"/>
          </a:xfrm>
        </p:grpSpPr>
        <p:pic>
          <p:nvPicPr>
            <p:cNvPr id="92" name="Google Shape;92;p1" descr="An abstract high-tech digital visualization of neural network pathways, glowing connection nodes, and stylized forecasting wave lines in cyan, teal, and deep blue colors, set against a dark, elegant background, clean presentation asset."/>
            <p:cNvPicPr preferRelativeResize="0"/>
            <p:nvPr/>
          </p:nvPicPr>
          <p:blipFill rotWithShape="1">
            <a:blip r:embed="rId4">
              <a:alphaModFix/>
            </a:blip>
            <a:srcRect l="729" r="719"/>
            <a:stretch/>
          </p:blipFill>
          <p:spPr>
            <a:xfrm>
              <a:off x="0" y="0"/>
              <a:ext cx="3238500" cy="4381500"/>
            </a:xfrm>
            <a:prstGeom prst="roundRect">
              <a:avLst>
                <a:gd name="adj" fmla="val 7058"/>
              </a:avLst>
            </a:prstGeom>
            <a:noFill/>
            <a:ln>
              <a:noFill/>
            </a:ln>
          </p:spPr>
        </p:pic>
        <p:pic>
          <p:nvPicPr>
            <p:cNvPr id="93" name="Google Shape;93;p1" title="watermarked_img_1839502202782129642.jpg"/>
            <p:cNvPicPr preferRelativeResize="0"/>
            <p:nvPr/>
          </p:nvPicPr>
          <p:blipFill rotWithShape="1">
            <a:blip r:embed="rId5">
              <a:alphaModFix/>
            </a:blip>
            <a:srcRect t="12305" b="12297"/>
            <a:stretch/>
          </p:blipFill>
          <p:spPr>
            <a:xfrm>
              <a:off x="-9525" y="-9525"/>
              <a:ext cx="3257700" cy="4400699"/>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7"/>
        <p:cNvGrpSpPr/>
        <p:nvPr/>
      </p:nvGrpSpPr>
      <p:grpSpPr>
        <a:xfrm>
          <a:off x="0" y="0"/>
          <a:ext cx="0" cy="0"/>
          <a:chOff x="0" y="0"/>
          <a:chExt cx="0" cy="0"/>
        </a:xfrm>
      </p:grpSpPr>
      <p:sp>
        <p:nvSpPr>
          <p:cNvPr id="98" name="Google Shape;98;p2"/>
          <p:cNvSpPr txBox="1"/>
          <p:nvPr/>
        </p:nvSpPr>
        <p:spPr>
          <a:xfrm>
            <a:off x="329550" y="762000"/>
            <a:ext cx="4072500" cy="381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2800" b="0">
                <a:solidFill>
                  <a:srgbClr val="0F172A"/>
                </a:solidFill>
                <a:latin typeface="Montserrat ExtraBold"/>
                <a:ea typeface="Montserrat ExtraBold"/>
                <a:cs typeface="Montserrat ExtraBold"/>
                <a:sym typeface="Montserrat ExtraBold"/>
              </a:rPr>
              <a:t>The Problem</a:t>
            </a:r>
            <a:endParaRPr sz="2800" b="0">
              <a:solidFill>
                <a:srgbClr val="0F172A"/>
              </a:solidFill>
              <a:latin typeface="Montserrat ExtraBold"/>
              <a:ea typeface="Montserrat ExtraBold"/>
              <a:cs typeface="Montserrat ExtraBold"/>
              <a:sym typeface="Montserrat ExtraBold"/>
            </a:endParaRPr>
          </a:p>
          <a:p>
            <a:pPr marL="457200" lvl="0" indent="-311150" algn="l" rtl="0">
              <a:spcBef>
                <a:spcPts val="1800"/>
              </a:spcBef>
              <a:spcAft>
                <a:spcPts val="0"/>
              </a:spcAft>
              <a:buClr>
                <a:srgbClr val="475569"/>
              </a:buClr>
              <a:buSzPts val="1300"/>
              <a:buFont typeface="Inter Medium"/>
              <a:buChar char="●"/>
            </a:pPr>
            <a:r>
              <a:rPr lang="en-GB" sz="1300" b="0">
                <a:solidFill>
                  <a:srgbClr val="475569"/>
                </a:solidFill>
                <a:latin typeface="Inter Medium"/>
                <a:ea typeface="Inter Medium"/>
                <a:cs typeface="Inter Medium"/>
                <a:sym typeface="Inter Medium"/>
              </a:rPr>
              <a:t>Tourism is a major source of foreign income for Sri Lanka. </a:t>
            </a:r>
            <a:endParaRPr sz="1300" b="0">
              <a:solidFill>
                <a:srgbClr val="475569"/>
              </a:solidFill>
              <a:latin typeface="Inter Medium"/>
              <a:ea typeface="Inter Medium"/>
              <a:cs typeface="Inter Medium"/>
              <a:sym typeface="Inter Medium"/>
            </a:endParaRPr>
          </a:p>
          <a:p>
            <a:pPr marL="457200" lvl="0" indent="-311150" algn="l" rtl="0">
              <a:spcBef>
                <a:spcPts val="0"/>
              </a:spcBef>
              <a:spcAft>
                <a:spcPts val="0"/>
              </a:spcAft>
              <a:buClr>
                <a:srgbClr val="475569"/>
              </a:buClr>
              <a:buSzPts val="1300"/>
              <a:buFont typeface="Inter Medium"/>
              <a:buChar char="●"/>
            </a:pPr>
            <a:r>
              <a:rPr lang="en-GB" sz="1300">
                <a:solidFill>
                  <a:srgbClr val="475569"/>
                </a:solidFill>
                <a:latin typeface="Inter Medium"/>
                <a:ea typeface="Inter Medium"/>
                <a:cs typeface="Inter Medium"/>
                <a:sym typeface="Inter Medium"/>
              </a:rPr>
              <a:t>Hotels, transport, and businesses need accurate monthly forecasts to plan capacity, staff, and marketing</a:t>
            </a:r>
            <a:endParaRPr sz="1300" b="0">
              <a:solidFill>
                <a:srgbClr val="475569"/>
              </a:solidFill>
              <a:latin typeface="Inter Medium"/>
              <a:ea typeface="Inter Medium"/>
              <a:cs typeface="Inter Medium"/>
              <a:sym typeface="Inter Medium"/>
            </a:endParaRPr>
          </a:p>
          <a:p>
            <a:pPr marL="457200" lvl="0" indent="-311150" algn="l" rtl="0">
              <a:spcBef>
                <a:spcPts val="0"/>
              </a:spcBef>
              <a:spcAft>
                <a:spcPts val="0"/>
              </a:spcAft>
              <a:buClr>
                <a:srgbClr val="475569"/>
              </a:buClr>
              <a:buSzPts val="1300"/>
              <a:buFont typeface="Inter Medium"/>
              <a:buChar char="●"/>
            </a:pPr>
            <a:r>
              <a:rPr lang="en-GB" sz="1300">
                <a:solidFill>
                  <a:srgbClr val="475569"/>
                </a:solidFill>
                <a:latin typeface="Inter Medium"/>
                <a:ea typeface="Inter Medium"/>
                <a:cs typeface="Inter Medium"/>
                <a:sym typeface="Inter Medium"/>
              </a:rPr>
              <a:t>In the last decade, 3 major shocks disrupted arrivals:</a:t>
            </a:r>
            <a:endParaRPr sz="1300">
              <a:solidFill>
                <a:srgbClr val="475569"/>
              </a:solidFill>
              <a:latin typeface="Inter Medium"/>
              <a:ea typeface="Inter Medium"/>
              <a:cs typeface="Inter Medium"/>
              <a:sym typeface="Inter Medium"/>
            </a:endParaRPr>
          </a:p>
          <a:p>
            <a:pPr marL="914400" lvl="1" indent="-311150" algn="l" rtl="0">
              <a:spcBef>
                <a:spcPts val="0"/>
              </a:spcBef>
              <a:spcAft>
                <a:spcPts val="0"/>
              </a:spcAft>
              <a:buClr>
                <a:srgbClr val="475569"/>
              </a:buClr>
              <a:buSzPts val="1300"/>
              <a:buFont typeface="Inter Medium"/>
              <a:buChar char="○"/>
            </a:pPr>
            <a:r>
              <a:rPr lang="en-GB" sz="1300">
                <a:solidFill>
                  <a:srgbClr val="475569"/>
                </a:solidFill>
                <a:latin typeface="Inter Medium"/>
                <a:ea typeface="Inter Medium"/>
                <a:cs typeface="Inter Medium"/>
                <a:sym typeface="Inter Medium"/>
              </a:rPr>
              <a:t>2019 Easter Sunday attacks</a:t>
            </a:r>
            <a:endParaRPr sz="1300">
              <a:solidFill>
                <a:srgbClr val="475569"/>
              </a:solidFill>
              <a:latin typeface="Inter Medium"/>
              <a:ea typeface="Inter Medium"/>
              <a:cs typeface="Inter Medium"/>
              <a:sym typeface="Inter Medium"/>
            </a:endParaRPr>
          </a:p>
          <a:p>
            <a:pPr marL="914400" lvl="1" indent="-311150" algn="l" rtl="0">
              <a:spcBef>
                <a:spcPts val="0"/>
              </a:spcBef>
              <a:spcAft>
                <a:spcPts val="0"/>
              </a:spcAft>
              <a:buClr>
                <a:srgbClr val="475569"/>
              </a:buClr>
              <a:buSzPts val="1300"/>
              <a:buFont typeface="Inter Medium"/>
              <a:buChar char="○"/>
            </a:pPr>
            <a:r>
              <a:rPr lang="en-GB" sz="1300">
                <a:solidFill>
                  <a:srgbClr val="475569"/>
                </a:solidFill>
                <a:latin typeface="Inter Medium"/>
                <a:ea typeface="Inter Medium"/>
                <a:cs typeface="Inter Medium"/>
                <a:sym typeface="Inter Medium"/>
              </a:rPr>
              <a:t>2020–2021 COVID-19 pandemic</a:t>
            </a:r>
            <a:endParaRPr sz="1300">
              <a:solidFill>
                <a:srgbClr val="475569"/>
              </a:solidFill>
              <a:latin typeface="Inter Medium"/>
              <a:ea typeface="Inter Medium"/>
              <a:cs typeface="Inter Medium"/>
              <a:sym typeface="Inter Medium"/>
            </a:endParaRPr>
          </a:p>
          <a:p>
            <a:pPr marL="914400" lvl="1" indent="-311150" algn="l" rtl="0">
              <a:spcBef>
                <a:spcPts val="0"/>
              </a:spcBef>
              <a:spcAft>
                <a:spcPts val="0"/>
              </a:spcAft>
              <a:buClr>
                <a:srgbClr val="475569"/>
              </a:buClr>
              <a:buSzPts val="1300"/>
              <a:buFont typeface="Inter Medium"/>
              <a:buChar char="○"/>
            </a:pPr>
            <a:r>
              <a:rPr lang="en-GB" sz="1300">
                <a:solidFill>
                  <a:srgbClr val="475569"/>
                </a:solidFill>
                <a:latin typeface="Inter Medium"/>
                <a:ea typeface="Inter Medium"/>
                <a:cs typeface="Inter Medium"/>
                <a:sym typeface="Inter Medium"/>
              </a:rPr>
              <a:t>2022 economic crisis</a:t>
            </a:r>
            <a:endParaRPr sz="1300">
              <a:solidFill>
                <a:srgbClr val="475569"/>
              </a:solidFill>
              <a:latin typeface="Inter Medium"/>
              <a:ea typeface="Inter Medium"/>
              <a:cs typeface="Inter Medium"/>
              <a:sym typeface="Inter Medium"/>
            </a:endParaRPr>
          </a:p>
          <a:p>
            <a:pPr marL="0" lvl="0" indent="0" algn="l" rtl="0">
              <a:spcBef>
                <a:spcPts val="1500"/>
              </a:spcBef>
              <a:spcAft>
                <a:spcPts val="0"/>
              </a:spcAft>
              <a:buNone/>
            </a:pPr>
            <a:r>
              <a:rPr lang="en-GB" sz="1200">
                <a:solidFill>
                  <a:srgbClr val="EF4444"/>
                </a:solidFill>
                <a:latin typeface="Inter SemiBold"/>
                <a:ea typeface="Inter SemiBold"/>
                <a:cs typeface="Inter SemiBold"/>
                <a:sym typeface="Inter SemiBold"/>
              </a:rPr>
              <a:t>Current forecasting methods (SARIMA) work fine normally, but fail badly during these shocks</a:t>
            </a:r>
            <a:endParaRPr sz="1200">
              <a:solidFill>
                <a:srgbClr val="EF4444"/>
              </a:solidFill>
              <a:latin typeface="Inter SemiBold"/>
              <a:ea typeface="Inter SemiBold"/>
              <a:cs typeface="Inter SemiBold"/>
              <a:sym typeface="Inter SemiBold"/>
            </a:endParaRPr>
          </a:p>
          <a:p>
            <a:pPr marL="0" lvl="0" indent="0" algn="l" rtl="0">
              <a:spcBef>
                <a:spcPts val="0"/>
              </a:spcBef>
              <a:spcAft>
                <a:spcPts val="0"/>
              </a:spcAft>
              <a:buNone/>
            </a:pPr>
            <a:endParaRPr sz="1200">
              <a:solidFill>
                <a:srgbClr val="EF4444"/>
              </a:solidFill>
              <a:latin typeface="Inter SemiBold"/>
              <a:ea typeface="Inter SemiBold"/>
              <a:cs typeface="Inter SemiBold"/>
              <a:sym typeface="Inter SemiBold"/>
            </a:endParaRPr>
          </a:p>
        </p:txBody>
      </p:sp>
      <p:grpSp>
        <p:nvGrpSpPr>
          <p:cNvPr id="99" name="Google Shape;99;p2"/>
          <p:cNvGrpSpPr/>
          <p:nvPr/>
        </p:nvGrpSpPr>
        <p:grpSpPr>
          <a:xfrm>
            <a:off x="4572000" y="571500"/>
            <a:ext cx="4000500" cy="4000500"/>
            <a:chOff x="0" y="0"/>
            <a:chExt cx="4000500" cy="4000500"/>
          </a:xfrm>
        </p:grpSpPr>
        <p:sp>
          <p:nvSpPr>
            <p:cNvPr id="100" name="Google Shape;100;p2"/>
            <p:cNvSpPr/>
            <p:nvPr/>
          </p:nvSpPr>
          <p:spPr>
            <a:xfrm>
              <a:off x="0" y="0"/>
              <a:ext cx="4000500" cy="4000500"/>
            </a:xfrm>
            <a:prstGeom prst="roundRect">
              <a:avLst>
                <a:gd name="adj" fmla="val 3809"/>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 name="Google Shape;101;p2"/>
            <p:cNvSpPr txBox="1"/>
            <p:nvPr/>
          </p:nvSpPr>
          <p:spPr>
            <a:xfrm>
              <a:off x="228600" y="190500"/>
              <a:ext cx="3543300" cy="3810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1100" b="1">
                  <a:solidFill>
                    <a:srgbClr val="64748B"/>
                  </a:solidFill>
                  <a:latin typeface="Montserrat"/>
                  <a:ea typeface="Montserrat"/>
                  <a:cs typeface="Montserrat"/>
                  <a:sym typeface="Montserrat"/>
                </a:rPr>
                <a:t>SHOCK-PERIOD DISRUPTIONS (2018–2023)</a:t>
              </a:r>
              <a:endParaRPr sz="1100" b="1">
                <a:solidFill>
                  <a:srgbClr val="64748B"/>
                </a:solidFill>
                <a:latin typeface="Montserrat"/>
                <a:ea typeface="Montserrat"/>
                <a:cs typeface="Montserrat"/>
                <a:sym typeface="Montserrat"/>
              </a:endParaRPr>
            </a:p>
          </p:txBody>
        </p:sp>
        <p:pic>
          <p:nvPicPr>
            <p:cNvPr id="102" name="Google Shape;102;p2"/>
            <p:cNvPicPr preferRelativeResize="0"/>
            <p:nvPr/>
          </p:nvPicPr>
          <p:blipFill rotWithShape="1">
            <a:blip r:embed="rId4">
              <a:alphaModFix/>
            </a:blip>
            <a:srcRect/>
            <a:stretch/>
          </p:blipFill>
          <p:spPr>
            <a:xfrm>
              <a:off x="381000" y="3419475"/>
              <a:ext cx="3238500" cy="19200"/>
            </a:xfrm>
            <a:prstGeom prst="rect">
              <a:avLst/>
            </a:prstGeom>
            <a:noFill/>
            <a:ln>
              <a:noFill/>
            </a:ln>
          </p:spPr>
        </p:pic>
        <p:sp>
          <p:nvSpPr>
            <p:cNvPr id="103" name="Google Shape;103;p2"/>
            <p:cNvSpPr/>
            <p:nvPr/>
          </p:nvSpPr>
          <p:spPr>
            <a:xfrm>
              <a:off x="381000" y="2286000"/>
              <a:ext cx="3238500" cy="1333500"/>
            </a:xfrm>
            <a:custGeom>
              <a:avLst/>
              <a:gdLst/>
              <a:ahLst/>
              <a:cxnLst/>
              <a:rect l="l" t="t" r="r" b="b"/>
              <a:pathLst>
                <a:path w="120000" h="120000" extrusionOk="0">
                  <a:moveTo>
                    <a:pt x="0" y="0"/>
                  </a:moveTo>
                  <a:lnTo>
                    <a:pt x="17647" y="0"/>
                  </a:lnTo>
                  <a:lnTo>
                    <a:pt x="24706" y="85714"/>
                  </a:lnTo>
                  <a:lnTo>
                    <a:pt x="31765" y="17143"/>
                  </a:lnTo>
                  <a:lnTo>
                    <a:pt x="45882" y="17143"/>
                  </a:lnTo>
                  <a:lnTo>
                    <a:pt x="54706" y="120000"/>
                  </a:lnTo>
                  <a:lnTo>
                    <a:pt x="75882" y="120000"/>
                  </a:lnTo>
                  <a:lnTo>
                    <a:pt x="82941" y="34286"/>
                  </a:lnTo>
                  <a:lnTo>
                    <a:pt x="93529" y="34286"/>
                  </a:lnTo>
                  <a:lnTo>
                    <a:pt x="100588" y="94286"/>
                  </a:lnTo>
                  <a:lnTo>
                    <a:pt x="120000" y="0"/>
                  </a:lnTo>
                </a:path>
              </a:pathLst>
            </a:custGeom>
            <a:solidFill>
              <a:srgbClr val="000000">
                <a:alpha val="0"/>
              </a:srgbClr>
            </a:solidFill>
            <a:ln w="38100" cap="rnd" cmpd="sng">
              <a:solidFill>
                <a:srgbClr val="0D948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4" name="Google Shape;104;p2"/>
            <p:cNvSpPr/>
            <p:nvPr/>
          </p:nvSpPr>
          <p:spPr>
            <a:xfrm>
              <a:off x="381000" y="2286000"/>
              <a:ext cx="3238500" cy="1333500"/>
            </a:xfrm>
            <a:custGeom>
              <a:avLst/>
              <a:gdLst/>
              <a:ahLst/>
              <a:cxnLst/>
              <a:rect l="l" t="t" r="r" b="b"/>
              <a:pathLst>
                <a:path w="120000" h="120000" extrusionOk="0">
                  <a:moveTo>
                    <a:pt x="0" y="0"/>
                  </a:moveTo>
                  <a:lnTo>
                    <a:pt x="17647" y="0"/>
                  </a:lnTo>
                  <a:lnTo>
                    <a:pt x="24706" y="85714"/>
                  </a:lnTo>
                  <a:lnTo>
                    <a:pt x="31765" y="17143"/>
                  </a:lnTo>
                  <a:lnTo>
                    <a:pt x="45882" y="17143"/>
                  </a:lnTo>
                  <a:lnTo>
                    <a:pt x="54706" y="120000"/>
                  </a:lnTo>
                  <a:lnTo>
                    <a:pt x="75882" y="120000"/>
                  </a:lnTo>
                  <a:lnTo>
                    <a:pt x="82941" y="34286"/>
                  </a:lnTo>
                  <a:lnTo>
                    <a:pt x="93529" y="34286"/>
                  </a:lnTo>
                  <a:lnTo>
                    <a:pt x="100588" y="94286"/>
                  </a:lnTo>
                  <a:lnTo>
                    <a:pt x="120000" y="0"/>
                  </a:lnTo>
                  <a:lnTo>
                    <a:pt x="120000" y="102857"/>
                  </a:lnTo>
                  <a:lnTo>
                    <a:pt x="0" y="102857"/>
                  </a:lnTo>
                  <a:close/>
                </a:path>
              </a:pathLst>
            </a:custGeom>
            <a:gradFill>
              <a:gsLst>
                <a:gs pos="0">
                  <a:srgbClr val="0D9488"/>
                </a:gs>
                <a:gs pos="100000">
                  <a:srgbClr val="0D9488">
                    <a:alpha val="0"/>
                  </a:srgbClr>
                </a:gs>
              </a:gsLst>
              <a:lin ang="5400000" scaled="0"/>
            </a:gra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05" name="Google Shape;105;p2"/>
            <p:cNvPicPr preferRelativeResize="0"/>
            <p:nvPr/>
          </p:nvPicPr>
          <p:blipFill rotWithShape="1">
            <a:blip r:embed="rId5">
              <a:alphaModFix/>
            </a:blip>
            <a:srcRect/>
            <a:stretch/>
          </p:blipFill>
          <p:spPr>
            <a:xfrm>
              <a:off x="1038225" y="1714500"/>
              <a:ext cx="19200" cy="1514400"/>
            </a:xfrm>
            <a:prstGeom prst="rect">
              <a:avLst/>
            </a:prstGeom>
            <a:noFill/>
            <a:ln>
              <a:noFill/>
            </a:ln>
          </p:spPr>
        </p:pic>
        <p:sp>
          <p:nvSpPr>
            <p:cNvPr id="106" name="Google Shape;106;p2"/>
            <p:cNvSpPr/>
            <p:nvPr/>
          </p:nvSpPr>
          <p:spPr>
            <a:xfrm>
              <a:off x="990600" y="3181350"/>
              <a:ext cx="114300" cy="114300"/>
            </a:xfrm>
            <a:prstGeom prst="ellipse">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07" name="Google Shape;107;p2"/>
            <p:cNvPicPr preferRelativeResize="0"/>
            <p:nvPr/>
          </p:nvPicPr>
          <p:blipFill rotWithShape="1">
            <a:blip r:embed="rId6">
              <a:alphaModFix/>
            </a:blip>
            <a:srcRect/>
            <a:stretch/>
          </p:blipFill>
          <p:spPr>
            <a:xfrm>
              <a:off x="1847850" y="1714500"/>
              <a:ext cx="19200" cy="1905000"/>
            </a:xfrm>
            <a:prstGeom prst="rect">
              <a:avLst/>
            </a:prstGeom>
            <a:noFill/>
            <a:ln>
              <a:noFill/>
            </a:ln>
          </p:spPr>
        </p:pic>
        <p:sp>
          <p:nvSpPr>
            <p:cNvPr id="108" name="Google Shape;108;p2"/>
            <p:cNvSpPr/>
            <p:nvPr/>
          </p:nvSpPr>
          <p:spPr>
            <a:xfrm>
              <a:off x="1800225" y="3562350"/>
              <a:ext cx="114300" cy="114300"/>
            </a:xfrm>
            <a:prstGeom prst="ellipse">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09" name="Google Shape;109;p2"/>
            <p:cNvPicPr preferRelativeResize="0"/>
            <p:nvPr/>
          </p:nvPicPr>
          <p:blipFill rotWithShape="1">
            <a:blip r:embed="rId7">
              <a:alphaModFix/>
            </a:blip>
            <a:srcRect/>
            <a:stretch/>
          </p:blipFill>
          <p:spPr>
            <a:xfrm>
              <a:off x="3086100" y="1714500"/>
              <a:ext cx="19200" cy="1619100"/>
            </a:xfrm>
            <a:prstGeom prst="rect">
              <a:avLst/>
            </a:prstGeom>
            <a:noFill/>
            <a:ln>
              <a:noFill/>
            </a:ln>
          </p:spPr>
        </p:pic>
        <p:sp>
          <p:nvSpPr>
            <p:cNvPr id="110" name="Google Shape;110;p2"/>
            <p:cNvSpPr/>
            <p:nvPr/>
          </p:nvSpPr>
          <p:spPr>
            <a:xfrm>
              <a:off x="3038475" y="3276600"/>
              <a:ext cx="114300" cy="114300"/>
            </a:xfrm>
            <a:prstGeom prst="ellipse">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11" name="Google Shape;111;p2"/>
          <p:cNvGrpSpPr/>
          <p:nvPr/>
        </p:nvGrpSpPr>
        <p:grpSpPr>
          <a:xfrm>
            <a:off x="5048250" y="1143000"/>
            <a:ext cx="1143000" cy="952500"/>
            <a:chOff x="0" y="0"/>
            <a:chExt cx="1143000" cy="952500"/>
          </a:xfrm>
        </p:grpSpPr>
        <p:sp>
          <p:nvSpPr>
            <p:cNvPr id="112" name="Google Shape;112;p2"/>
            <p:cNvSpPr/>
            <p:nvPr/>
          </p:nvSpPr>
          <p:spPr>
            <a:xfrm>
              <a:off x="0" y="0"/>
              <a:ext cx="1143000" cy="952500"/>
            </a:xfrm>
            <a:prstGeom prst="roundRect">
              <a:avLst>
                <a:gd name="adj" fmla="val 8000"/>
              </a:avLst>
            </a:prstGeom>
            <a:solidFill>
              <a:srgbClr val="FEF2F2"/>
            </a:solidFill>
            <a:ln w="9525" cap="flat" cmpd="sng">
              <a:solidFill>
                <a:srgbClr val="FEE2E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3" name="Google Shape;113;p2"/>
            <p:cNvSpPr txBox="1"/>
            <p:nvPr/>
          </p:nvSpPr>
          <p:spPr>
            <a:xfrm>
              <a:off x="0" y="0"/>
              <a:ext cx="1143000" cy="952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2000">
                  <a:solidFill>
                    <a:srgbClr val="EF4444"/>
                  </a:solidFill>
                  <a:latin typeface="Material Icons"/>
                  <a:ea typeface="Material Icons"/>
                  <a:cs typeface="Material Icons"/>
                  <a:sym typeface="Material Icons"/>
                </a:rPr>
                <a:t>warning</a:t>
              </a:r>
              <a:endParaRPr>
                <a:latin typeface="Inter"/>
                <a:ea typeface="Inter"/>
                <a:cs typeface="Inter"/>
                <a:sym typeface="Inter"/>
              </a:endParaRPr>
            </a:p>
            <a:p>
              <a:pPr marL="0" lvl="0" indent="0" algn="ctr" rtl="0">
                <a:spcBef>
                  <a:spcPts val="300"/>
                </a:spcBef>
                <a:spcAft>
                  <a:spcPts val="0"/>
                </a:spcAft>
                <a:buNone/>
              </a:pPr>
              <a:r>
                <a:rPr lang="en-GB" sz="1000" b="1">
                  <a:solidFill>
                    <a:srgbClr val="991B1B"/>
                  </a:solidFill>
                  <a:latin typeface="Inter"/>
                  <a:ea typeface="Inter"/>
                  <a:cs typeface="Inter"/>
                  <a:sym typeface="Inter"/>
                </a:rPr>
                <a:t>2019</a:t>
              </a:r>
              <a:endParaRPr sz="1000" b="1">
                <a:solidFill>
                  <a:srgbClr val="991B1B"/>
                </a:solidFill>
                <a:latin typeface="Inter"/>
                <a:ea typeface="Inter"/>
                <a:cs typeface="Inter"/>
                <a:sym typeface="Inter"/>
              </a:endParaRPr>
            </a:p>
            <a:p>
              <a:pPr marL="0" lvl="0" indent="0" algn="ctr" rtl="0">
                <a:spcBef>
                  <a:spcPts val="150"/>
                </a:spcBef>
                <a:spcAft>
                  <a:spcPts val="0"/>
                </a:spcAft>
                <a:buNone/>
              </a:pPr>
              <a:r>
                <a:rPr lang="en-GB" sz="800" b="0">
                  <a:solidFill>
                    <a:srgbClr val="7F1D1D"/>
                  </a:solidFill>
                  <a:latin typeface="Inter Medium"/>
                  <a:ea typeface="Inter Medium"/>
                  <a:cs typeface="Inter Medium"/>
                  <a:sym typeface="Inter Medium"/>
                </a:rPr>
                <a:t>Easter Attacks</a:t>
              </a:r>
              <a:endParaRPr sz="800" b="0">
                <a:solidFill>
                  <a:srgbClr val="7F1D1D"/>
                </a:solidFill>
                <a:latin typeface="Inter Medium"/>
                <a:ea typeface="Inter Medium"/>
                <a:cs typeface="Inter Medium"/>
                <a:sym typeface="Inter Medium"/>
              </a:endParaRPr>
            </a:p>
          </p:txBody>
        </p:sp>
      </p:grpSp>
      <p:grpSp>
        <p:nvGrpSpPr>
          <p:cNvPr id="114" name="Google Shape;114;p2"/>
          <p:cNvGrpSpPr/>
          <p:nvPr/>
        </p:nvGrpSpPr>
        <p:grpSpPr>
          <a:xfrm>
            <a:off x="6048375" y="1143000"/>
            <a:ext cx="1143000" cy="952500"/>
            <a:chOff x="0" y="0"/>
            <a:chExt cx="1143000" cy="952500"/>
          </a:xfrm>
        </p:grpSpPr>
        <p:sp>
          <p:nvSpPr>
            <p:cNvPr id="115" name="Google Shape;115;p2"/>
            <p:cNvSpPr/>
            <p:nvPr/>
          </p:nvSpPr>
          <p:spPr>
            <a:xfrm>
              <a:off x="0" y="0"/>
              <a:ext cx="1143000" cy="952500"/>
            </a:xfrm>
            <a:prstGeom prst="roundRect">
              <a:avLst>
                <a:gd name="adj" fmla="val 8000"/>
              </a:avLst>
            </a:prstGeom>
            <a:solidFill>
              <a:srgbClr val="EFF6FF"/>
            </a:solidFill>
            <a:ln w="9525" cap="flat" cmpd="sng">
              <a:solidFill>
                <a:srgbClr val="DBEA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6" name="Google Shape;116;p2"/>
            <p:cNvSpPr txBox="1"/>
            <p:nvPr/>
          </p:nvSpPr>
          <p:spPr>
            <a:xfrm>
              <a:off x="0" y="0"/>
              <a:ext cx="1143000" cy="952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2000">
                  <a:solidFill>
                    <a:srgbClr val="3B82F6"/>
                  </a:solidFill>
                  <a:latin typeface="Material Icons"/>
                  <a:ea typeface="Material Icons"/>
                  <a:cs typeface="Material Icons"/>
                  <a:sym typeface="Material Icons"/>
                </a:rPr>
                <a:t>coronavirus</a:t>
              </a:r>
              <a:endParaRPr>
                <a:latin typeface="Inter"/>
                <a:ea typeface="Inter"/>
                <a:cs typeface="Inter"/>
                <a:sym typeface="Inter"/>
              </a:endParaRPr>
            </a:p>
            <a:p>
              <a:pPr marL="0" lvl="0" indent="0" algn="ctr" rtl="0">
                <a:spcBef>
                  <a:spcPts val="300"/>
                </a:spcBef>
                <a:spcAft>
                  <a:spcPts val="0"/>
                </a:spcAft>
                <a:buNone/>
              </a:pPr>
              <a:r>
                <a:rPr lang="en-GB" sz="1000" b="1">
                  <a:solidFill>
                    <a:srgbClr val="1E40AF"/>
                  </a:solidFill>
                  <a:latin typeface="Inter"/>
                  <a:ea typeface="Inter"/>
                  <a:cs typeface="Inter"/>
                  <a:sym typeface="Inter"/>
                </a:rPr>
                <a:t>2020–21</a:t>
              </a:r>
              <a:endParaRPr sz="1000" b="1">
                <a:solidFill>
                  <a:srgbClr val="1E40AF"/>
                </a:solidFill>
                <a:latin typeface="Inter"/>
                <a:ea typeface="Inter"/>
                <a:cs typeface="Inter"/>
                <a:sym typeface="Inter"/>
              </a:endParaRPr>
            </a:p>
            <a:p>
              <a:pPr marL="0" lvl="0" indent="0" algn="ctr" rtl="0">
                <a:spcBef>
                  <a:spcPts val="150"/>
                </a:spcBef>
                <a:spcAft>
                  <a:spcPts val="0"/>
                </a:spcAft>
                <a:buNone/>
              </a:pPr>
              <a:r>
                <a:rPr lang="en-GB" sz="800" b="0">
                  <a:solidFill>
                    <a:srgbClr val="1E3A8A"/>
                  </a:solidFill>
                  <a:latin typeface="Inter Medium"/>
                  <a:ea typeface="Inter Medium"/>
                  <a:cs typeface="Inter Medium"/>
                  <a:sym typeface="Inter Medium"/>
                </a:rPr>
                <a:t>COVID Pandemic</a:t>
              </a:r>
              <a:endParaRPr sz="800" b="0">
                <a:solidFill>
                  <a:srgbClr val="1E3A8A"/>
                </a:solidFill>
                <a:latin typeface="Inter Medium"/>
                <a:ea typeface="Inter Medium"/>
                <a:cs typeface="Inter Medium"/>
                <a:sym typeface="Inter Medium"/>
              </a:endParaRPr>
            </a:p>
          </p:txBody>
        </p:sp>
      </p:grpSp>
      <p:grpSp>
        <p:nvGrpSpPr>
          <p:cNvPr id="117" name="Google Shape;117;p2"/>
          <p:cNvGrpSpPr/>
          <p:nvPr/>
        </p:nvGrpSpPr>
        <p:grpSpPr>
          <a:xfrm>
            <a:off x="7048500" y="1143000"/>
            <a:ext cx="1143000" cy="952500"/>
            <a:chOff x="0" y="0"/>
            <a:chExt cx="1143000" cy="952500"/>
          </a:xfrm>
        </p:grpSpPr>
        <p:sp>
          <p:nvSpPr>
            <p:cNvPr id="118" name="Google Shape;118;p2"/>
            <p:cNvSpPr/>
            <p:nvPr/>
          </p:nvSpPr>
          <p:spPr>
            <a:xfrm>
              <a:off x="0" y="0"/>
              <a:ext cx="1143000" cy="952500"/>
            </a:xfrm>
            <a:prstGeom prst="roundRect">
              <a:avLst>
                <a:gd name="adj" fmla="val 8000"/>
              </a:avLst>
            </a:prstGeom>
            <a:solidFill>
              <a:srgbClr val="FEF3C7"/>
            </a:solidFill>
            <a:ln w="9525" cap="flat" cmpd="sng">
              <a:solidFill>
                <a:srgbClr val="FDE68A"/>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9" name="Google Shape;119;p2"/>
            <p:cNvSpPr txBox="1"/>
            <p:nvPr/>
          </p:nvSpPr>
          <p:spPr>
            <a:xfrm>
              <a:off x="0" y="0"/>
              <a:ext cx="1143000" cy="952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2000">
                  <a:solidFill>
                    <a:srgbClr val="F59E0B"/>
                  </a:solidFill>
                  <a:latin typeface="Material Icons"/>
                  <a:ea typeface="Material Icons"/>
                  <a:cs typeface="Material Icons"/>
                  <a:sym typeface="Material Icons"/>
                </a:rPr>
                <a:t>trending_down</a:t>
              </a:r>
              <a:endParaRPr>
                <a:latin typeface="Inter"/>
                <a:ea typeface="Inter"/>
                <a:cs typeface="Inter"/>
                <a:sym typeface="Inter"/>
              </a:endParaRPr>
            </a:p>
            <a:p>
              <a:pPr marL="0" lvl="0" indent="0" algn="ctr" rtl="0">
                <a:spcBef>
                  <a:spcPts val="300"/>
                </a:spcBef>
                <a:spcAft>
                  <a:spcPts val="0"/>
                </a:spcAft>
                <a:buNone/>
              </a:pPr>
              <a:r>
                <a:rPr lang="en-GB" sz="1000" b="1">
                  <a:solidFill>
                    <a:srgbClr val="92400E"/>
                  </a:solidFill>
                  <a:latin typeface="Inter"/>
                  <a:ea typeface="Inter"/>
                  <a:cs typeface="Inter"/>
                  <a:sym typeface="Inter"/>
                </a:rPr>
                <a:t>2022</a:t>
              </a:r>
              <a:endParaRPr sz="1000" b="1">
                <a:solidFill>
                  <a:srgbClr val="92400E"/>
                </a:solidFill>
                <a:latin typeface="Inter"/>
                <a:ea typeface="Inter"/>
                <a:cs typeface="Inter"/>
                <a:sym typeface="Inter"/>
              </a:endParaRPr>
            </a:p>
            <a:p>
              <a:pPr marL="0" lvl="0" indent="0" algn="ctr" rtl="0">
                <a:spcBef>
                  <a:spcPts val="150"/>
                </a:spcBef>
                <a:spcAft>
                  <a:spcPts val="0"/>
                </a:spcAft>
                <a:buNone/>
              </a:pPr>
              <a:r>
                <a:rPr lang="en-GB" sz="800" b="0">
                  <a:solidFill>
                    <a:srgbClr val="78350F"/>
                  </a:solidFill>
                  <a:latin typeface="Inter Medium"/>
                  <a:ea typeface="Inter Medium"/>
                  <a:cs typeface="Inter Medium"/>
                  <a:sym typeface="Inter Medium"/>
                </a:rPr>
                <a:t>Economic Crisis</a:t>
              </a:r>
              <a:endParaRPr sz="800" b="0">
                <a:solidFill>
                  <a:srgbClr val="78350F"/>
                </a:solidFill>
                <a:latin typeface="Inter Medium"/>
                <a:ea typeface="Inter Medium"/>
                <a:cs typeface="Inter Medium"/>
                <a:sym typeface="Inter Medium"/>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3"/>
        <p:cNvGrpSpPr/>
        <p:nvPr/>
      </p:nvGrpSpPr>
      <p:grpSpPr>
        <a:xfrm>
          <a:off x="0" y="0"/>
          <a:ext cx="0" cy="0"/>
          <a:chOff x="0" y="0"/>
          <a:chExt cx="0" cy="0"/>
        </a:xfrm>
      </p:grpSpPr>
      <p:sp>
        <p:nvSpPr>
          <p:cNvPr id="124" name="Google Shape;124;p3"/>
          <p:cNvSpPr txBox="1">
            <a:spLocks noGrp="1"/>
          </p:cNvSpPr>
          <p:nvPr>
            <p:ph type="title"/>
          </p:nvPr>
        </p:nvSpPr>
        <p:spPr>
          <a:xfrm>
            <a:off x="571500" y="476250"/>
            <a:ext cx="8001000" cy="571500"/>
          </a:xfrm>
          <a:prstGeom prst="rect">
            <a:avLst/>
          </a:prstGeom>
          <a:solidFill>
            <a:srgbClr val="000000">
              <a:alpha val="0"/>
            </a:srgbClr>
          </a:solidFill>
          <a:ln>
            <a:noFill/>
          </a:ln>
        </p:spPr>
        <p:txBody>
          <a:bodyPr spcFirstLastPara="1" wrap="square" lIns="0" tIns="0" rIns="0" bIns="0" anchor="ctr" anchorCtr="0">
            <a:normAutofit/>
          </a:bodyPr>
          <a:lstStyle/>
          <a:p>
            <a:pPr marL="0" lvl="0" indent="0" algn="l" rtl="0">
              <a:spcBef>
                <a:spcPts val="0"/>
              </a:spcBef>
              <a:spcAft>
                <a:spcPts val="0"/>
              </a:spcAft>
              <a:buNone/>
            </a:pPr>
            <a:r>
              <a:rPr lang="en-GB" sz="2600" b="0">
                <a:solidFill>
                  <a:srgbClr val="FFFFFF"/>
                </a:solidFill>
                <a:latin typeface="Montserrat ExtraBold"/>
                <a:ea typeface="Montserrat ExtraBold"/>
                <a:cs typeface="Montserrat ExtraBold"/>
                <a:sym typeface="Montserrat ExtraBold"/>
              </a:rPr>
              <a:t>Research Problem &amp; Gap</a:t>
            </a:r>
            <a:endParaRPr sz="2600" b="0">
              <a:solidFill>
                <a:srgbClr val="FFFFFF"/>
              </a:solidFill>
              <a:latin typeface="Montserrat ExtraBold"/>
              <a:ea typeface="Montserrat ExtraBold"/>
              <a:cs typeface="Montserrat ExtraBold"/>
              <a:sym typeface="Montserrat ExtraBold"/>
            </a:endParaRPr>
          </a:p>
        </p:txBody>
      </p:sp>
      <p:grpSp>
        <p:nvGrpSpPr>
          <p:cNvPr id="125" name="Google Shape;125;p3"/>
          <p:cNvGrpSpPr/>
          <p:nvPr/>
        </p:nvGrpSpPr>
        <p:grpSpPr>
          <a:xfrm>
            <a:off x="571500" y="1333500"/>
            <a:ext cx="3810000" cy="3048000"/>
            <a:chOff x="0" y="0"/>
            <a:chExt cx="3810000" cy="3048000"/>
          </a:xfrm>
        </p:grpSpPr>
        <p:sp>
          <p:nvSpPr>
            <p:cNvPr id="126" name="Google Shape;126;p3"/>
            <p:cNvSpPr/>
            <p:nvPr/>
          </p:nvSpPr>
          <p:spPr>
            <a:xfrm>
              <a:off x="0" y="0"/>
              <a:ext cx="3810000" cy="3048000"/>
            </a:xfrm>
            <a:prstGeom prst="roundRect">
              <a:avLst>
                <a:gd name="adj" fmla="val 5000"/>
              </a:avLst>
            </a:prstGeom>
            <a:solidFill>
              <a:srgbClr val="111A30"/>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7" name="Google Shape;127;p3"/>
            <p:cNvSpPr/>
            <p:nvPr/>
          </p:nvSpPr>
          <p:spPr>
            <a:xfrm>
              <a:off x="0" y="0"/>
              <a:ext cx="3810000" cy="57300"/>
            </a:xfrm>
            <a:prstGeom prst="roundRect">
              <a:avLst>
                <a:gd name="adj" fmla="val 50000"/>
              </a:avLst>
            </a:prstGeom>
            <a:solidFill>
              <a:srgbClr val="00F0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8" name="Google Shape;128;p3"/>
            <p:cNvSpPr txBox="1"/>
            <p:nvPr/>
          </p:nvSpPr>
          <p:spPr>
            <a:xfrm>
              <a:off x="285750" y="381000"/>
              <a:ext cx="3238500" cy="2286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3200">
                  <a:solidFill>
                    <a:srgbClr val="00F0FF"/>
                  </a:solidFill>
                  <a:latin typeface="Material Icons"/>
                  <a:ea typeface="Material Icons"/>
                  <a:cs typeface="Material Icons"/>
                  <a:sym typeface="Material Icons"/>
                </a:rPr>
                <a:t>analytics</a:t>
              </a:r>
              <a:endParaRPr sz="3200">
                <a:solidFill>
                  <a:srgbClr val="00F0FF"/>
                </a:solidFill>
                <a:latin typeface="Material Icons"/>
                <a:ea typeface="Material Icons"/>
                <a:cs typeface="Material Icons"/>
                <a:sym typeface="Material Icons"/>
              </a:endParaRPr>
            </a:p>
            <a:p>
              <a:pPr marL="0" lvl="0" indent="0" algn="l" rtl="0">
                <a:spcBef>
                  <a:spcPts val="1125"/>
                </a:spcBef>
                <a:spcAft>
                  <a:spcPts val="0"/>
                </a:spcAft>
                <a:buNone/>
              </a:pPr>
              <a:r>
                <a:rPr lang="en-GB" sz="1000" b="1">
                  <a:solidFill>
                    <a:srgbClr val="94A3B8"/>
                  </a:solidFill>
                  <a:latin typeface="Inter"/>
                  <a:ea typeface="Inter"/>
                  <a:cs typeface="Inter"/>
                  <a:sym typeface="Inter"/>
                </a:rPr>
                <a:t>RESEARCH GAP 01</a:t>
              </a:r>
              <a:endParaRPr sz="1000" b="1">
                <a:solidFill>
                  <a:srgbClr val="94A3B8"/>
                </a:solidFill>
                <a:latin typeface="Inter"/>
                <a:ea typeface="Inter"/>
                <a:cs typeface="Inter"/>
                <a:sym typeface="Inter"/>
              </a:endParaRPr>
            </a:p>
            <a:p>
              <a:pPr marL="0" lvl="0" indent="0" algn="l" rtl="0">
                <a:spcBef>
                  <a:spcPts val="375"/>
                </a:spcBef>
                <a:spcAft>
                  <a:spcPts val="0"/>
                </a:spcAft>
                <a:buNone/>
              </a:pPr>
              <a:r>
                <a:rPr lang="en-GB" sz="1800" b="1">
                  <a:solidFill>
                    <a:srgbClr val="FFFFFF"/>
                  </a:solidFill>
                  <a:latin typeface="Montserrat"/>
                  <a:ea typeface="Montserrat"/>
                  <a:cs typeface="Montserrat"/>
                  <a:sym typeface="Montserrat"/>
                </a:rPr>
                <a:t>Multi-Period Validation</a:t>
              </a:r>
              <a:endParaRPr sz="1800" b="1">
                <a:solidFill>
                  <a:srgbClr val="FFFFFF"/>
                </a:solidFill>
                <a:latin typeface="Montserrat"/>
                <a:ea typeface="Montserrat"/>
                <a:cs typeface="Montserrat"/>
                <a:sym typeface="Montserrat"/>
              </a:endParaRPr>
            </a:p>
            <a:p>
              <a:pPr marL="0" lvl="0" indent="0" algn="l" rtl="0">
                <a:spcBef>
                  <a:spcPts val="1125"/>
                </a:spcBef>
                <a:spcAft>
                  <a:spcPts val="0"/>
                </a:spcAft>
                <a:buNone/>
              </a:pPr>
              <a:r>
                <a:rPr lang="en-GB" sz="1250" b="0">
                  <a:solidFill>
                    <a:srgbClr val="00F0FF"/>
                  </a:solidFill>
                  <a:latin typeface="Inter SemiBold"/>
                  <a:ea typeface="Inter SemiBold"/>
                  <a:cs typeface="Inter SemiBold"/>
                  <a:sym typeface="Inter SemiBold"/>
                </a:rPr>
                <a:t>No locally-validated</a:t>
              </a:r>
              <a:r>
                <a:rPr lang="en-GB" sz="1250" b="0">
                  <a:solidFill>
                    <a:srgbClr val="94A3B8"/>
                  </a:solidFill>
                  <a:latin typeface="Inter"/>
                  <a:ea typeface="Inter"/>
                  <a:cs typeface="Inter"/>
                  <a:sym typeface="Inter"/>
                </a:rPr>
                <a:t> forecasting method has been systematically tested for both stable AND crisis-period accuracy in Sri Lanka.</a:t>
              </a:r>
              <a:endParaRPr sz="1250" b="0">
                <a:solidFill>
                  <a:srgbClr val="94A3B8"/>
                </a:solidFill>
                <a:latin typeface="Inter"/>
                <a:ea typeface="Inter"/>
                <a:cs typeface="Inter"/>
                <a:sym typeface="Inter"/>
              </a:endParaRPr>
            </a:p>
          </p:txBody>
        </p:sp>
      </p:grpSp>
      <p:grpSp>
        <p:nvGrpSpPr>
          <p:cNvPr id="129" name="Google Shape;129;p3"/>
          <p:cNvGrpSpPr/>
          <p:nvPr/>
        </p:nvGrpSpPr>
        <p:grpSpPr>
          <a:xfrm>
            <a:off x="4762500" y="1333500"/>
            <a:ext cx="3810000" cy="3048000"/>
            <a:chOff x="0" y="0"/>
            <a:chExt cx="3810000" cy="3048000"/>
          </a:xfrm>
        </p:grpSpPr>
        <p:sp>
          <p:nvSpPr>
            <p:cNvPr id="130" name="Google Shape;130;p3"/>
            <p:cNvSpPr/>
            <p:nvPr/>
          </p:nvSpPr>
          <p:spPr>
            <a:xfrm>
              <a:off x="0" y="0"/>
              <a:ext cx="3810000" cy="3048000"/>
            </a:xfrm>
            <a:prstGeom prst="roundRect">
              <a:avLst>
                <a:gd name="adj" fmla="val 5000"/>
              </a:avLst>
            </a:prstGeom>
            <a:solidFill>
              <a:srgbClr val="111A30"/>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1" name="Google Shape;131;p3"/>
            <p:cNvSpPr/>
            <p:nvPr/>
          </p:nvSpPr>
          <p:spPr>
            <a:xfrm>
              <a:off x="0" y="0"/>
              <a:ext cx="3810000" cy="57300"/>
            </a:xfrm>
            <a:prstGeom prst="roundRect">
              <a:avLst>
                <a:gd name="adj" fmla="val 50000"/>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2" name="Google Shape;132;p3"/>
            <p:cNvSpPr txBox="1"/>
            <p:nvPr/>
          </p:nvSpPr>
          <p:spPr>
            <a:xfrm>
              <a:off x="285750" y="381000"/>
              <a:ext cx="3238500" cy="2286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3200">
                  <a:solidFill>
                    <a:srgbClr val="0D9488"/>
                  </a:solidFill>
                  <a:latin typeface="Material Icons"/>
                  <a:ea typeface="Material Icons"/>
                  <a:cs typeface="Material Icons"/>
                  <a:sym typeface="Material Icons"/>
                </a:rPr>
                <a:t>layers</a:t>
              </a:r>
              <a:endParaRPr sz="3200">
                <a:solidFill>
                  <a:srgbClr val="0D9488"/>
                </a:solidFill>
                <a:latin typeface="Material Icons"/>
                <a:ea typeface="Material Icons"/>
                <a:cs typeface="Material Icons"/>
                <a:sym typeface="Material Icons"/>
              </a:endParaRPr>
            </a:p>
            <a:p>
              <a:pPr marL="0" lvl="0" indent="0" algn="l" rtl="0">
                <a:spcBef>
                  <a:spcPts val="1125"/>
                </a:spcBef>
                <a:spcAft>
                  <a:spcPts val="0"/>
                </a:spcAft>
                <a:buNone/>
              </a:pPr>
              <a:r>
                <a:rPr lang="en-GB" sz="1000" b="1">
                  <a:solidFill>
                    <a:srgbClr val="94A3B8"/>
                  </a:solidFill>
                  <a:latin typeface="Inter"/>
                  <a:ea typeface="Inter"/>
                  <a:cs typeface="Inter"/>
                  <a:sym typeface="Inter"/>
                </a:rPr>
                <a:t>RESEARCH GAP 02</a:t>
              </a:r>
              <a:endParaRPr sz="1000" b="1">
                <a:solidFill>
                  <a:srgbClr val="94A3B8"/>
                </a:solidFill>
                <a:latin typeface="Inter"/>
                <a:ea typeface="Inter"/>
                <a:cs typeface="Inter"/>
                <a:sym typeface="Inter"/>
              </a:endParaRPr>
            </a:p>
            <a:p>
              <a:pPr marL="0" lvl="0" indent="0" algn="l" rtl="0">
                <a:spcBef>
                  <a:spcPts val="375"/>
                </a:spcBef>
                <a:spcAft>
                  <a:spcPts val="0"/>
                </a:spcAft>
                <a:buNone/>
              </a:pPr>
              <a:r>
                <a:rPr lang="en-GB" sz="1800" b="1">
                  <a:solidFill>
                    <a:srgbClr val="FFFFFF"/>
                  </a:solidFill>
                  <a:latin typeface="Montserrat"/>
                  <a:ea typeface="Montserrat"/>
                  <a:cs typeface="Montserrat"/>
                  <a:sym typeface="Montserrat"/>
                </a:rPr>
                <a:t>Ensemble Architects</a:t>
              </a:r>
              <a:endParaRPr sz="1800" b="1">
                <a:solidFill>
                  <a:srgbClr val="FFFFFF"/>
                </a:solidFill>
                <a:latin typeface="Montserrat"/>
                <a:ea typeface="Montserrat"/>
                <a:cs typeface="Montserrat"/>
                <a:sym typeface="Montserrat"/>
              </a:endParaRPr>
            </a:p>
            <a:p>
              <a:pPr marL="0" lvl="0" indent="0" algn="l" rtl="0">
                <a:spcBef>
                  <a:spcPts val="1125"/>
                </a:spcBef>
                <a:spcAft>
                  <a:spcPts val="0"/>
                </a:spcAft>
                <a:buNone/>
              </a:pPr>
              <a:r>
                <a:rPr lang="en-GB" sz="1250" b="0">
                  <a:solidFill>
                    <a:srgbClr val="0D9488"/>
                  </a:solidFill>
                  <a:latin typeface="Inter SemiBold"/>
                  <a:ea typeface="Inter SemiBold"/>
                  <a:cs typeface="Inter SemiBold"/>
                  <a:sym typeface="Inter SemiBold"/>
                </a:rPr>
                <a:t>No existing study</a:t>
              </a:r>
              <a:r>
                <a:rPr lang="en-GB" sz="1250" b="0">
                  <a:solidFill>
                    <a:srgbClr val="94A3B8"/>
                  </a:solidFill>
                  <a:latin typeface="Inter"/>
                  <a:ea typeface="Inter"/>
                  <a:cs typeface="Inter"/>
                  <a:sym typeface="Inter"/>
                </a:rPr>
                <a:t> has evaluated a stacked LSTM–XGBoost ensemble specifically on Sri Lankan tourist data.</a:t>
              </a:r>
              <a:endParaRPr sz="1250" b="0">
                <a:solidFill>
                  <a:srgbClr val="94A3B8"/>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6"/>
        <p:cNvGrpSpPr/>
        <p:nvPr/>
      </p:nvGrpSpPr>
      <p:grpSpPr>
        <a:xfrm>
          <a:off x="0" y="0"/>
          <a:ext cx="0" cy="0"/>
          <a:chOff x="0" y="0"/>
          <a:chExt cx="0" cy="0"/>
        </a:xfrm>
      </p:grpSpPr>
      <p:sp>
        <p:nvSpPr>
          <p:cNvPr id="137" name="Google Shape;137;p4"/>
          <p:cNvSpPr txBox="1"/>
          <p:nvPr/>
        </p:nvSpPr>
        <p:spPr>
          <a:xfrm>
            <a:off x="571500" y="476250"/>
            <a:ext cx="8001000" cy="476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2400" b="0">
                <a:solidFill>
                  <a:srgbClr val="0F172A"/>
                </a:solidFill>
                <a:latin typeface="Montserrat ExtraBold"/>
                <a:ea typeface="Montserrat ExtraBold"/>
                <a:cs typeface="Montserrat ExtraBold"/>
                <a:sym typeface="Montserrat ExtraBold"/>
              </a:rPr>
              <a:t>Research Question &amp; Objectives</a:t>
            </a:r>
            <a:endParaRPr sz="2400" b="0">
              <a:solidFill>
                <a:srgbClr val="0F172A"/>
              </a:solidFill>
              <a:latin typeface="Montserrat ExtraBold"/>
              <a:ea typeface="Montserrat ExtraBold"/>
              <a:cs typeface="Montserrat ExtraBold"/>
              <a:sym typeface="Montserrat ExtraBold"/>
            </a:endParaRPr>
          </a:p>
        </p:txBody>
      </p:sp>
      <p:grpSp>
        <p:nvGrpSpPr>
          <p:cNvPr id="138" name="Google Shape;138;p4"/>
          <p:cNvGrpSpPr/>
          <p:nvPr/>
        </p:nvGrpSpPr>
        <p:grpSpPr>
          <a:xfrm>
            <a:off x="571500" y="1238250"/>
            <a:ext cx="3429000" cy="3333900"/>
            <a:chOff x="0" y="0"/>
            <a:chExt cx="3429000" cy="3333900"/>
          </a:xfrm>
        </p:grpSpPr>
        <p:sp>
          <p:nvSpPr>
            <p:cNvPr id="139" name="Google Shape;139;p4"/>
            <p:cNvSpPr/>
            <p:nvPr/>
          </p:nvSpPr>
          <p:spPr>
            <a:xfrm>
              <a:off x="0" y="0"/>
              <a:ext cx="3429000" cy="3333900"/>
            </a:xfrm>
            <a:prstGeom prst="roundRect">
              <a:avLst>
                <a:gd name="adj" fmla="val 4570"/>
              </a:avLst>
            </a:prstGeom>
            <a:solidFill>
              <a:srgbClr val="FFFFFF"/>
            </a:solidFill>
            <a:ln w="14300"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0" name="Google Shape;140;p4"/>
            <p:cNvSpPr/>
            <p:nvPr/>
          </p:nvSpPr>
          <p:spPr>
            <a:xfrm>
              <a:off x="0" y="0"/>
              <a:ext cx="3429000" cy="57300"/>
            </a:xfrm>
            <a:prstGeom prst="roundRect">
              <a:avLst>
                <a:gd name="adj" fmla="val 49999"/>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1" name="Google Shape;141;p4"/>
            <p:cNvSpPr txBox="1"/>
            <p:nvPr/>
          </p:nvSpPr>
          <p:spPr>
            <a:xfrm>
              <a:off x="285750" y="333375"/>
              <a:ext cx="2857500" cy="2667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0284C7"/>
                  </a:solidFill>
                  <a:latin typeface="Inter"/>
                  <a:ea typeface="Inter"/>
                  <a:cs typeface="Inter"/>
                  <a:sym typeface="Inter"/>
                </a:rPr>
                <a:t>RESEARCH QUESTION</a:t>
              </a:r>
              <a:endParaRPr sz="1000" b="1">
                <a:solidFill>
                  <a:srgbClr val="0284C7"/>
                </a:solidFill>
                <a:latin typeface="Inter"/>
                <a:ea typeface="Inter"/>
                <a:cs typeface="Inter"/>
                <a:sym typeface="Inter"/>
              </a:endParaRPr>
            </a:p>
            <a:p>
              <a:pPr marL="0" lvl="0" indent="0" algn="l" rtl="0">
                <a:spcBef>
                  <a:spcPts val="1125"/>
                </a:spcBef>
                <a:spcAft>
                  <a:spcPts val="0"/>
                </a:spcAft>
                <a:buNone/>
              </a:pPr>
              <a:r>
                <a:rPr lang="en-GB" sz="1600" b="1">
                  <a:solidFill>
                    <a:srgbClr val="0F172A"/>
                  </a:solidFill>
                  <a:latin typeface="Montserrat"/>
                  <a:ea typeface="Montserrat"/>
                  <a:cs typeface="Montserrat"/>
                  <a:sym typeface="Montserrat"/>
                </a:rPr>
                <a:t>The Core Inquiry</a:t>
              </a:r>
              <a:endParaRPr sz="1000" b="1">
                <a:solidFill>
                  <a:srgbClr val="0284C7"/>
                </a:solidFill>
                <a:latin typeface="Inter"/>
                <a:ea typeface="Inter"/>
                <a:cs typeface="Inter"/>
                <a:sym typeface="Inter"/>
              </a:endParaRPr>
            </a:p>
            <a:p>
              <a:pPr marL="0" lvl="0" indent="0" algn="l" rtl="0">
                <a:spcBef>
                  <a:spcPts val="1125"/>
                </a:spcBef>
                <a:spcAft>
                  <a:spcPts val="1125"/>
                </a:spcAft>
                <a:buNone/>
              </a:pPr>
              <a:r>
                <a:rPr lang="en-GB" sz="1300" b="0">
                  <a:solidFill>
                    <a:srgbClr val="475569"/>
                  </a:solidFill>
                  <a:latin typeface="Inter"/>
                  <a:ea typeface="Inter"/>
                  <a:cs typeface="Inter"/>
                  <a:sym typeface="Inter"/>
                </a:rPr>
                <a:t>Does a hybrid </a:t>
              </a:r>
              <a:r>
                <a:rPr lang="en-GB" sz="1300" b="1">
                  <a:solidFill>
                    <a:srgbClr val="0284C7"/>
                  </a:solidFill>
                  <a:latin typeface="Inter"/>
                  <a:ea typeface="Inter"/>
                  <a:cs typeface="Inter"/>
                  <a:sym typeface="Inter"/>
                </a:rPr>
                <a:t>LSTM–XGBoost</a:t>
              </a:r>
              <a:r>
                <a:rPr lang="en-GB" sz="1300" b="0">
                  <a:solidFill>
                    <a:srgbClr val="475569"/>
                  </a:solidFill>
                  <a:latin typeface="Inter"/>
                  <a:ea typeface="Inter"/>
                  <a:cs typeface="Inter"/>
                  <a:sym typeface="Inter"/>
                </a:rPr>
                <a:t> ensemble forecast Sri Lankan tourist arrivals more accurately than </a:t>
              </a:r>
              <a:r>
                <a:rPr lang="en-GB" sz="1300" b="1">
                  <a:solidFill>
                    <a:srgbClr val="0D9488"/>
                  </a:solidFill>
                  <a:latin typeface="Inter"/>
                  <a:ea typeface="Inter"/>
                  <a:cs typeface="Inter"/>
                  <a:sym typeface="Inter"/>
                </a:rPr>
                <a:t>SARIMA</a:t>
              </a:r>
              <a:r>
                <a:rPr lang="en-GB" sz="1300" b="0">
                  <a:solidFill>
                    <a:srgbClr val="475569"/>
                  </a:solidFill>
                  <a:latin typeface="Inter"/>
                  <a:ea typeface="Inter"/>
                  <a:cs typeface="Inter"/>
                  <a:sym typeface="Inter"/>
                </a:rPr>
                <a:t>, both in stable and shock periods?</a:t>
              </a:r>
              <a:endParaRPr sz="1000" b="1">
                <a:solidFill>
                  <a:srgbClr val="0284C7"/>
                </a:solidFill>
                <a:latin typeface="Inter"/>
                <a:ea typeface="Inter"/>
                <a:cs typeface="Inter"/>
                <a:sym typeface="Inter"/>
              </a:endParaRPr>
            </a:p>
          </p:txBody>
        </p:sp>
        <p:sp>
          <p:nvSpPr>
            <p:cNvPr id="142" name="Google Shape;142;p4"/>
            <p:cNvSpPr txBox="1"/>
            <p:nvPr/>
          </p:nvSpPr>
          <p:spPr>
            <a:xfrm>
              <a:off x="285750" y="2629281"/>
              <a:ext cx="476400" cy="476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endParaRPr sz="3600" b="0" dirty="0">
                <a:solidFill>
                  <a:srgbClr val="0284C7"/>
                </a:solidFill>
                <a:latin typeface="Material Icons"/>
                <a:ea typeface="Material Icons"/>
                <a:cs typeface="Material Icons"/>
                <a:sym typeface="Material Icons"/>
              </a:endParaRPr>
            </a:p>
          </p:txBody>
        </p:sp>
      </p:grpSp>
      <p:grpSp>
        <p:nvGrpSpPr>
          <p:cNvPr id="143" name="Google Shape;143;p4"/>
          <p:cNvGrpSpPr/>
          <p:nvPr/>
        </p:nvGrpSpPr>
        <p:grpSpPr>
          <a:xfrm>
            <a:off x="4381500" y="1238250"/>
            <a:ext cx="4191000" cy="714300"/>
            <a:chOff x="0" y="0"/>
            <a:chExt cx="4191000" cy="714300"/>
          </a:xfrm>
        </p:grpSpPr>
        <p:sp>
          <p:nvSpPr>
            <p:cNvPr id="144" name="Google Shape;144;p4"/>
            <p:cNvSpPr/>
            <p:nvPr/>
          </p:nvSpPr>
          <p:spPr>
            <a:xfrm>
              <a:off x="0" y="0"/>
              <a:ext cx="4191000" cy="714300"/>
            </a:xfrm>
            <a:prstGeom prst="roundRect">
              <a:avLst>
                <a:gd name="adj" fmla="val 10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45" name="Google Shape;145;p4"/>
            <p:cNvGrpSpPr/>
            <p:nvPr/>
          </p:nvGrpSpPr>
          <p:grpSpPr>
            <a:xfrm>
              <a:off x="142875" y="161925"/>
              <a:ext cx="381000" cy="381000"/>
              <a:chOff x="0" y="0"/>
              <a:chExt cx="381000" cy="381000"/>
            </a:xfrm>
          </p:grpSpPr>
          <p:sp>
            <p:nvSpPr>
              <p:cNvPr id="146" name="Google Shape;146;p4"/>
              <p:cNvSpPr/>
              <p:nvPr/>
            </p:nvSpPr>
            <p:spPr>
              <a:xfrm>
                <a:off x="0" y="0"/>
                <a:ext cx="381000" cy="381000"/>
              </a:xfrm>
              <a:prstGeom prst="roundRect">
                <a:avLst>
                  <a:gd name="adj" fmla="val 15000"/>
                </a:avLst>
              </a:prstGeom>
              <a:solidFill>
                <a:srgbClr val="F1F5F9"/>
              </a:solidFill>
              <a:ln w="14300"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7" name="Google Shape;147;p4"/>
              <p:cNvSpPr txBox="1"/>
              <p:nvPr/>
            </p:nvSpPr>
            <p:spPr>
              <a:xfrm>
                <a:off x="0" y="0"/>
                <a:ext cx="381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1200" b="1">
                    <a:solidFill>
                      <a:srgbClr val="0284C7"/>
                    </a:solidFill>
                    <a:latin typeface="Montserrat"/>
                    <a:ea typeface="Montserrat"/>
                    <a:cs typeface="Montserrat"/>
                    <a:sym typeface="Montserrat"/>
                  </a:rPr>
                  <a:t>01</a:t>
                </a:r>
                <a:endParaRPr sz="1200" b="1">
                  <a:solidFill>
                    <a:srgbClr val="0284C7"/>
                  </a:solidFill>
                  <a:latin typeface="Montserrat"/>
                  <a:ea typeface="Montserrat"/>
                  <a:cs typeface="Montserrat"/>
                  <a:sym typeface="Montserrat"/>
                </a:endParaRPr>
              </a:p>
            </p:txBody>
          </p:sp>
        </p:grpSp>
        <p:sp>
          <p:nvSpPr>
            <p:cNvPr id="148" name="Google Shape;148;p4"/>
            <p:cNvSpPr txBox="1"/>
            <p:nvPr/>
          </p:nvSpPr>
          <p:spPr>
            <a:xfrm>
              <a:off x="666750" y="95250"/>
              <a:ext cx="3381300" cy="523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100" b="0">
                  <a:solidFill>
                    <a:srgbClr val="334155"/>
                  </a:solidFill>
                  <a:latin typeface="Inter Medium"/>
                  <a:ea typeface="Inter Medium"/>
                  <a:cs typeface="Inter Medium"/>
                  <a:sym typeface="Inter Medium"/>
                </a:rPr>
                <a:t>Compile and clean a tourism dataset (2015–2025) with exchange rate and search-trend features</a:t>
              </a:r>
              <a:endParaRPr sz="1100" b="0">
                <a:solidFill>
                  <a:srgbClr val="334155"/>
                </a:solidFill>
                <a:latin typeface="Inter Medium"/>
                <a:ea typeface="Inter Medium"/>
                <a:cs typeface="Inter Medium"/>
                <a:sym typeface="Inter Medium"/>
              </a:endParaRPr>
            </a:p>
          </p:txBody>
        </p:sp>
      </p:grpSp>
      <p:grpSp>
        <p:nvGrpSpPr>
          <p:cNvPr id="149" name="Google Shape;149;p4"/>
          <p:cNvGrpSpPr/>
          <p:nvPr/>
        </p:nvGrpSpPr>
        <p:grpSpPr>
          <a:xfrm>
            <a:off x="4381500" y="2095500"/>
            <a:ext cx="4191000" cy="714300"/>
            <a:chOff x="0" y="0"/>
            <a:chExt cx="4191000" cy="714300"/>
          </a:xfrm>
        </p:grpSpPr>
        <p:sp>
          <p:nvSpPr>
            <p:cNvPr id="150" name="Google Shape;150;p4"/>
            <p:cNvSpPr/>
            <p:nvPr/>
          </p:nvSpPr>
          <p:spPr>
            <a:xfrm>
              <a:off x="0" y="0"/>
              <a:ext cx="4191000" cy="714300"/>
            </a:xfrm>
            <a:prstGeom prst="roundRect">
              <a:avLst>
                <a:gd name="adj" fmla="val 10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142875" y="161925"/>
              <a:ext cx="381000" cy="381000"/>
              <a:chOff x="0" y="0"/>
              <a:chExt cx="381000" cy="381000"/>
            </a:xfrm>
          </p:grpSpPr>
          <p:sp>
            <p:nvSpPr>
              <p:cNvPr id="152" name="Google Shape;152;p4"/>
              <p:cNvSpPr/>
              <p:nvPr/>
            </p:nvSpPr>
            <p:spPr>
              <a:xfrm>
                <a:off x="0" y="0"/>
                <a:ext cx="381000" cy="381000"/>
              </a:xfrm>
              <a:prstGeom prst="roundRect">
                <a:avLst>
                  <a:gd name="adj" fmla="val 15000"/>
                </a:avLst>
              </a:prstGeom>
              <a:solidFill>
                <a:srgbClr val="F1F5F9"/>
              </a:solidFill>
              <a:ln w="14300" cap="flat" cmpd="sng">
                <a:solidFill>
                  <a:srgbClr val="0D948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3" name="Google Shape;153;p4"/>
              <p:cNvSpPr txBox="1"/>
              <p:nvPr/>
            </p:nvSpPr>
            <p:spPr>
              <a:xfrm>
                <a:off x="0" y="0"/>
                <a:ext cx="381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1200" b="1">
                    <a:solidFill>
                      <a:srgbClr val="0D9488"/>
                    </a:solidFill>
                    <a:latin typeface="Montserrat"/>
                    <a:ea typeface="Montserrat"/>
                    <a:cs typeface="Montserrat"/>
                    <a:sym typeface="Montserrat"/>
                  </a:rPr>
                  <a:t>02</a:t>
                </a:r>
                <a:endParaRPr sz="1200" b="1">
                  <a:solidFill>
                    <a:srgbClr val="0D9488"/>
                  </a:solidFill>
                  <a:latin typeface="Montserrat"/>
                  <a:ea typeface="Montserrat"/>
                  <a:cs typeface="Montserrat"/>
                  <a:sym typeface="Montserrat"/>
                </a:endParaRPr>
              </a:p>
            </p:txBody>
          </p:sp>
        </p:grpSp>
        <p:sp>
          <p:nvSpPr>
            <p:cNvPr id="154" name="Google Shape;154;p4"/>
            <p:cNvSpPr txBox="1"/>
            <p:nvPr/>
          </p:nvSpPr>
          <p:spPr>
            <a:xfrm>
              <a:off x="666750" y="95250"/>
              <a:ext cx="3381300" cy="523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100" b="0">
                  <a:solidFill>
                    <a:srgbClr val="334155"/>
                  </a:solidFill>
                  <a:latin typeface="Inter Medium"/>
                  <a:ea typeface="Inter Medium"/>
                  <a:cs typeface="Inter Medium"/>
                  <a:sym typeface="Inter Medium"/>
                </a:rPr>
                <a:t>Implement SARIMA, standalone LSTM, and standalone XGBoost as baselines</a:t>
              </a:r>
              <a:endParaRPr sz="1100" b="0">
                <a:solidFill>
                  <a:srgbClr val="334155"/>
                </a:solidFill>
                <a:latin typeface="Inter Medium"/>
                <a:ea typeface="Inter Medium"/>
                <a:cs typeface="Inter Medium"/>
                <a:sym typeface="Inter Medium"/>
              </a:endParaRPr>
            </a:p>
          </p:txBody>
        </p:sp>
      </p:grpSp>
      <p:grpSp>
        <p:nvGrpSpPr>
          <p:cNvPr id="155" name="Google Shape;155;p4"/>
          <p:cNvGrpSpPr/>
          <p:nvPr/>
        </p:nvGrpSpPr>
        <p:grpSpPr>
          <a:xfrm>
            <a:off x="4381500" y="2952750"/>
            <a:ext cx="4191000" cy="714300"/>
            <a:chOff x="0" y="0"/>
            <a:chExt cx="4191000" cy="714300"/>
          </a:xfrm>
        </p:grpSpPr>
        <p:sp>
          <p:nvSpPr>
            <p:cNvPr id="156" name="Google Shape;156;p4"/>
            <p:cNvSpPr/>
            <p:nvPr/>
          </p:nvSpPr>
          <p:spPr>
            <a:xfrm>
              <a:off x="0" y="0"/>
              <a:ext cx="4191000" cy="714300"/>
            </a:xfrm>
            <a:prstGeom prst="roundRect">
              <a:avLst>
                <a:gd name="adj" fmla="val 10666"/>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57" name="Google Shape;157;p4"/>
            <p:cNvGrpSpPr/>
            <p:nvPr/>
          </p:nvGrpSpPr>
          <p:grpSpPr>
            <a:xfrm>
              <a:off x="142875" y="161925"/>
              <a:ext cx="381000" cy="381000"/>
              <a:chOff x="0" y="0"/>
              <a:chExt cx="381000" cy="381000"/>
            </a:xfrm>
          </p:grpSpPr>
          <p:sp>
            <p:nvSpPr>
              <p:cNvPr id="158" name="Google Shape;158;p4"/>
              <p:cNvSpPr/>
              <p:nvPr/>
            </p:nvSpPr>
            <p:spPr>
              <a:xfrm>
                <a:off x="0" y="0"/>
                <a:ext cx="381000" cy="381000"/>
              </a:xfrm>
              <a:prstGeom prst="roundRect">
                <a:avLst>
                  <a:gd name="adj" fmla="val 15000"/>
                </a:avLst>
              </a:prstGeom>
              <a:solidFill>
                <a:srgbClr val="F1F5F9"/>
              </a:solidFill>
              <a:ln w="14300" cap="flat" cmpd="sng">
                <a:solidFill>
                  <a:srgbClr val="0284C7"/>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9" name="Google Shape;159;p4"/>
              <p:cNvSpPr txBox="1"/>
              <p:nvPr/>
            </p:nvSpPr>
            <p:spPr>
              <a:xfrm>
                <a:off x="0" y="0"/>
                <a:ext cx="381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1200" b="1">
                    <a:solidFill>
                      <a:srgbClr val="0284C7"/>
                    </a:solidFill>
                    <a:latin typeface="Montserrat"/>
                    <a:ea typeface="Montserrat"/>
                    <a:cs typeface="Montserrat"/>
                    <a:sym typeface="Montserrat"/>
                  </a:rPr>
                  <a:t>03</a:t>
                </a:r>
                <a:endParaRPr sz="1200" b="1">
                  <a:solidFill>
                    <a:srgbClr val="0284C7"/>
                  </a:solidFill>
                  <a:latin typeface="Montserrat"/>
                  <a:ea typeface="Montserrat"/>
                  <a:cs typeface="Montserrat"/>
                  <a:sym typeface="Montserrat"/>
                </a:endParaRPr>
              </a:p>
            </p:txBody>
          </p:sp>
        </p:grpSp>
        <p:sp>
          <p:nvSpPr>
            <p:cNvPr id="160" name="Google Shape;160;p4"/>
            <p:cNvSpPr txBox="1"/>
            <p:nvPr/>
          </p:nvSpPr>
          <p:spPr>
            <a:xfrm>
              <a:off x="666750" y="95250"/>
              <a:ext cx="3381300" cy="5238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100" b="0">
                  <a:solidFill>
                    <a:srgbClr val="334155"/>
                  </a:solidFill>
                  <a:latin typeface="Inter Medium"/>
                  <a:ea typeface="Inter Medium"/>
                  <a:cs typeface="Inter Medium"/>
                  <a:sym typeface="Inter Medium"/>
                </a:rPr>
                <a:t>Design a stacked hybrid LSTM–XGBoost ensemble</a:t>
              </a:r>
              <a:endParaRPr sz="1100" b="0">
                <a:solidFill>
                  <a:srgbClr val="334155"/>
                </a:solidFill>
                <a:latin typeface="Inter Medium"/>
                <a:ea typeface="Inter Medium"/>
                <a:cs typeface="Inter Medium"/>
                <a:sym typeface="Inter Medium"/>
              </a:endParaRPr>
            </a:p>
          </p:txBody>
        </p:sp>
      </p:grpSp>
      <p:grpSp>
        <p:nvGrpSpPr>
          <p:cNvPr id="161" name="Google Shape;161;p4"/>
          <p:cNvGrpSpPr/>
          <p:nvPr/>
        </p:nvGrpSpPr>
        <p:grpSpPr>
          <a:xfrm>
            <a:off x="4381500" y="3810000"/>
            <a:ext cx="4191000" cy="762000"/>
            <a:chOff x="0" y="0"/>
            <a:chExt cx="4191000" cy="762000"/>
          </a:xfrm>
        </p:grpSpPr>
        <p:sp>
          <p:nvSpPr>
            <p:cNvPr id="162" name="Google Shape;162;p4"/>
            <p:cNvSpPr/>
            <p:nvPr/>
          </p:nvSpPr>
          <p:spPr>
            <a:xfrm>
              <a:off x="0" y="0"/>
              <a:ext cx="4191000" cy="762000"/>
            </a:xfrm>
            <a:prstGeom prst="roundRect">
              <a:avLst>
                <a:gd name="adj" fmla="val 10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63" name="Google Shape;163;p4"/>
            <p:cNvGrpSpPr/>
            <p:nvPr/>
          </p:nvGrpSpPr>
          <p:grpSpPr>
            <a:xfrm>
              <a:off x="142875" y="190500"/>
              <a:ext cx="381000" cy="381000"/>
              <a:chOff x="0" y="0"/>
              <a:chExt cx="381000" cy="381000"/>
            </a:xfrm>
          </p:grpSpPr>
          <p:sp>
            <p:nvSpPr>
              <p:cNvPr id="164" name="Google Shape;164;p4"/>
              <p:cNvSpPr/>
              <p:nvPr/>
            </p:nvSpPr>
            <p:spPr>
              <a:xfrm>
                <a:off x="0" y="0"/>
                <a:ext cx="381000" cy="381000"/>
              </a:xfrm>
              <a:prstGeom prst="roundRect">
                <a:avLst>
                  <a:gd name="adj" fmla="val 15000"/>
                </a:avLst>
              </a:prstGeom>
              <a:solidFill>
                <a:srgbClr val="F1F5F9"/>
              </a:solidFill>
              <a:ln w="14300" cap="flat" cmpd="sng">
                <a:solidFill>
                  <a:srgbClr val="0D948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5" name="Google Shape;165;p4"/>
              <p:cNvSpPr txBox="1"/>
              <p:nvPr/>
            </p:nvSpPr>
            <p:spPr>
              <a:xfrm>
                <a:off x="0" y="0"/>
                <a:ext cx="381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1200" b="1">
                    <a:solidFill>
                      <a:srgbClr val="0D9488"/>
                    </a:solidFill>
                    <a:latin typeface="Montserrat"/>
                    <a:ea typeface="Montserrat"/>
                    <a:cs typeface="Montserrat"/>
                    <a:sym typeface="Montserrat"/>
                  </a:rPr>
                  <a:t>04</a:t>
                </a:r>
                <a:endParaRPr sz="1200" b="1">
                  <a:solidFill>
                    <a:srgbClr val="0D9488"/>
                  </a:solidFill>
                  <a:latin typeface="Montserrat"/>
                  <a:ea typeface="Montserrat"/>
                  <a:cs typeface="Montserrat"/>
                  <a:sym typeface="Montserrat"/>
                </a:endParaRPr>
              </a:p>
            </p:txBody>
          </p:sp>
        </p:grpSp>
        <p:sp>
          <p:nvSpPr>
            <p:cNvPr id="166" name="Google Shape;166;p4"/>
            <p:cNvSpPr txBox="1"/>
            <p:nvPr/>
          </p:nvSpPr>
          <p:spPr>
            <a:xfrm>
              <a:off x="666750" y="95250"/>
              <a:ext cx="33813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050" b="0" dirty="0">
                  <a:solidFill>
                    <a:srgbClr val="334155"/>
                  </a:solidFill>
                  <a:latin typeface="Inter Medium"/>
                  <a:ea typeface="Inter Medium"/>
                  <a:cs typeface="Inter Medium"/>
                  <a:sym typeface="Inter Medium"/>
                </a:rPr>
                <a:t>Evaluate all models on stable vs. shock periods using RMSE, MAE, MAPE and SHAP </a:t>
              </a:r>
              <a:r>
                <a:rPr lang="en-GB" sz="1050" b="0" dirty="0" err="1">
                  <a:solidFill>
                    <a:srgbClr val="334155"/>
                  </a:solidFill>
                  <a:latin typeface="Inter Medium"/>
                  <a:ea typeface="Inter Medium"/>
                  <a:cs typeface="Inter Medium"/>
                  <a:sym typeface="Inter Medium"/>
                </a:rPr>
                <a:t>ect</a:t>
              </a:r>
              <a:r>
                <a:rPr lang="en-GB" sz="1050" b="0" dirty="0">
                  <a:solidFill>
                    <a:srgbClr val="334155"/>
                  </a:solidFill>
                  <a:latin typeface="Inter Medium"/>
                  <a:ea typeface="Inter Medium"/>
                  <a:cs typeface="Inter Medium"/>
                  <a:sym typeface="Inter Medium"/>
                </a:rPr>
                <a:t>.</a:t>
              </a:r>
              <a:endParaRPr sz="1050" b="0" dirty="0">
                <a:solidFill>
                  <a:srgbClr val="334155"/>
                </a:solidFill>
                <a:latin typeface="Inter Medium"/>
                <a:ea typeface="Inter Medium"/>
                <a:cs typeface="Inter Medium"/>
                <a:sym typeface="Inter Medium"/>
              </a:endParaRPr>
            </a:p>
          </p:txBody>
        </p:sp>
      </p:grpSp>
      <p:pic>
        <p:nvPicPr>
          <p:cNvPr id="3" name="Graphic 2">
            <a:extLst>
              <a:ext uri="{FF2B5EF4-FFF2-40B4-BE49-F238E27FC236}">
                <a16:creationId xmlns:a16="http://schemas.microsoft.com/office/drawing/2014/main" id="{F8BBDE87-BCE6-EF88-D5EE-0C76102465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2556" y="3814376"/>
            <a:ext cx="513969" cy="5139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0"/>
        <p:cNvGrpSpPr/>
        <p:nvPr/>
      </p:nvGrpSpPr>
      <p:grpSpPr>
        <a:xfrm>
          <a:off x="0" y="0"/>
          <a:ext cx="0" cy="0"/>
          <a:chOff x="0" y="0"/>
          <a:chExt cx="0" cy="0"/>
        </a:xfrm>
      </p:grpSpPr>
      <p:sp>
        <p:nvSpPr>
          <p:cNvPr id="171" name="Google Shape;171;p5"/>
          <p:cNvSpPr txBox="1"/>
          <p:nvPr/>
        </p:nvSpPr>
        <p:spPr>
          <a:xfrm>
            <a:off x="381000" y="381000"/>
            <a:ext cx="8382000" cy="5715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GB" sz="2600" b="0">
                <a:solidFill>
                  <a:srgbClr val="FFFFFF"/>
                </a:solidFill>
                <a:latin typeface="Montserrat ExtraBold"/>
                <a:ea typeface="Montserrat ExtraBold"/>
                <a:cs typeface="Montserrat ExtraBold"/>
                <a:sym typeface="Montserrat ExtraBold"/>
              </a:rPr>
              <a:t>Data Sources</a:t>
            </a:r>
            <a:endParaRPr sz="2600" b="0">
              <a:solidFill>
                <a:srgbClr val="FFFFFF"/>
              </a:solidFill>
              <a:latin typeface="Montserrat ExtraBold"/>
              <a:ea typeface="Montserrat ExtraBold"/>
              <a:cs typeface="Montserrat ExtraBold"/>
              <a:sym typeface="Montserrat ExtraBold"/>
            </a:endParaRPr>
          </a:p>
        </p:txBody>
      </p:sp>
      <p:pic>
        <p:nvPicPr>
          <p:cNvPr id="172" name="Google Shape;172;p5"/>
          <p:cNvPicPr preferRelativeResize="0"/>
          <p:nvPr/>
        </p:nvPicPr>
        <p:blipFill rotWithShape="1">
          <a:blip r:embed="rId4">
            <a:alphaModFix/>
          </a:blip>
          <a:srcRect/>
          <a:stretch/>
        </p:blipFill>
        <p:spPr>
          <a:xfrm>
            <a:off x="3524250" y="1514475"/>
            <a:ext cx="624000" cy="1114500"/>
          </a:xfrm>
          <a:prstGeom prst="rect">
            <a:avLst/>
          </a:prstGeom>
          <a:noFill/>
          <a:ln>
            <a:noFill/>
          </a:ln>
        </p:spPr>
      </p:pic>
      <p:pic>
        <p:nvPicPr>
          <p:cNvPr id="173" name="Google Shape;173;p5"/>
          <p:cNvPicPr preferRelativeResize="0"/>
          <p:nvPr/>
        </p:nvPicPr>
        <p:blipFill rotWithShape="1">
          <a:blip r:embed="rId5">
            <a:alphaModFix/>
          </a:blip>
          <a:srcRect/>
          <a:stretch/>
        </p:blipFill>
        <p:spPr>
          <a:xfrm>
            <a:off x="3524250" y="2657475"/>
            <a:ext cx="476400" cy="19200"/>
          </a:xfrm>
          <a:prstGeom prst="rect">
            <a:avLst/>
          </a:prstGeom>
          <a:noFill/>
          <a:ln>
            <a:noFill/>
          </a:ln>
        </p:spPr>
      </p:pic>
      <p:pic>
        <p:nvPicPr>
          <p:cNvPr id="174" name="Google Shape;174;p5"/>
          <p:cNvPicPr preferRelativeResize="0"/>
          <p:nvPr/>
        </p:nvPicPr>
        <p:blipFill rotWithShape="1">
          <a:blip r:embed="rId6">
            <a:alphaModFix/>
          </a:blip>
          <a:srcRect/>
          <a:stretch/>
        </p:blipFill>
        <p:spPr>
          <a:xfrm>
            <a:off x="3524250" y="2705100"/>
            <a:ext cx="624000" cy="1114500"/>
          </a:xfrm>
          <a:prstGeom prst="rect">
            <a:avLst/>
          </a:prstGeom>
          <a:noFill/>
          <a:ln>
            <a:noFill/>
          </a:ln>
        </p:spPr>
      </p:pic>
      <p:grpSp>
        <p:nvGrpSpPr>
          <p:cNvPr id="175" name="Google Shape;175;p5"/>
          <p:cNvGrpSpPr/>
          <p:nvPr/>
        </p:nvGrpSpPr>
        <p:grpSpPr>
          <a:xfrm>
            <a:off x="5334000" y="1143000"/>
            <a:ext cx="3429000" cy="3429000"/>
            <a:chOff x="0" y="0"/>
            <a:chExt cx="3429000" cy="3429000"/>
          </a:xfrm>
        </p:grpSpPr>
        <p:sp>
          <p:nvSpPr>
            <p:cNvPr id="176" name="Google Shape;176;p5"/>
            <p:cNvSpPr/>
            <p:nvPr/>
          </p:nvSpPr>
          <p:spPr>
            <a:xfrm>
              <a:off x="0" y="0"/>
              <a:ext cx="3429000" cy="3429000"/>
            </a:xfrm>
            <a:prstGeom prst="roundRect">
              <a:avLst>
                <a:gd name="adj" fmla="val 3333"/>
              </a:avLst>
            </a:prstGeom>
            <a:solidFill>
              <a:srgbClr val="111A30"/>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5"/>
            <p:cNvSpPr txBox="1"/>
            <p:nvPr/>
          </p:nvSpPr>
          <p:spPr>
            <a:xfrm>
              <a:off x="190500" y="190500"/>
              <a:ext cx="3048000" cy="3048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295" b="1">
                  <a:solidFill>
                    <a:srgbClr val="FFFFFF"/>
                  </a:solidFill>
                  <a:latin typeface="Montserrat"/>
                  <a:ea typeface="Montserrat"/>
                  <a:cs typeface="Montserrat"/>
                  <a:sym typeface="Montserrat"/>
                </a:rPr>
                <a:t>Data Pipeline Details</a:t>
              </a:r>
              <a:endParaRPr sz="1295" b="1">
                <a:solidFill>
                  <a:srgbClr val="FFFFFF"/>
                </a:solidFill>
                <a:latin typeface="Montserrat"/>
                <a:ea typeface="Montserrat"/>
                <a:cs typeface="Montserrat"/>
                <a:sym typeface="Montserrat"/>
              </a:endParaRPr>
            </a:p>
            <a:p>
              <a:pPr marL="0" lvl="0" indent="0" algn="l" rtl="0">
                <a:spcBef>
                  <a:spcPts val="600"/>
                </a:spcBef>
                <a:spcAft>
                  <a:spcPts val="0"/>
                </a:spcAft>
                <a:buNone/>
              </a:pPr>
              <a:r>
                <a:rPr lang="en-GB" sz="925" b="0">
                  <a:solidFill>
                    <a:srgbClr val="94A3B8"/>
                  </a:solidFill>
                  <a:latin typeface="Inter"/>
                  <a:ea typeface="Inter"/>
                  <a:cs typeface="Inter"/>
                  <a:sym typeface="Inter"/>
                </a:rPr>
                <a:t>Overview of integrated sources and parameters</a:t>
              </a:r>
              <a:endParaRPr sz="925" b="0">
                <a:solidFill>
                  <a:srgbClr val="94A3B8"/>
                </a:solidFill>
                <a:latin typeface="Inter"/>
                <a:ea typeface="Inter"/>
                <a:cs typeface="Inter"/>
                <a:sym typeface="Inter"/>
              </a:endParaRPr>
            </a:p>
            <a:p>
              <a:pPr marL="457200" lvl="0" indent="-310833" algn="l" rtl="0">
                <a:spcBef>
                  <a:spcPts val="1200"/>
                </a:spcBef>
                <a:spcAft>
                  <a:spcPts val="0"/>
                </a:spcAft>
                <a:buClr>
                  <a:srgbClr val="FFFFFF"/>
                </a:buClr>
                <a:buSzPts val="1295"/>
                <a:buFont typeface="Montserrat"/>
                <a:buChar char="●"/>
              </a:pPr>
              <a:r>
                <a:rPr lang="en-GB" sz="1018" b="1">
                  <a:solidFill>
                    <a:srgbClr val="00F0FF"/>
                  </a:solidFill>
                  <a:latin typeface="Inter"/>
                  <a:ea typeface="Inter"/>
                  <a:cs typeface="Inter"/>
                  <a:sym typeface="Inter"/>
                </a:rPr>
                <a:t>Arrivals:</a:t>
              </a:r>
              <a:r>
                <a:rPr lang="en-GB" sz="1018" b="0">
                  <a:solidFill>
                    <a:srgbClr val="94A3B8"/>
                  </a:solidFill>
                  <a:latin typeface="Inter"/>
                  <a:ea typeface="Inter"/>
                  <a:cs typeface="Inter"/>
                  <a:sym typeface="Inter"/>
                </a:rPr>
                <a:t> Core dataset from SLTDA monthly tourist arrivals (2015–2025).</a:t>
              </a:r>
              <a:endParaRPr sz="1295" b="1">
                <a:solidFill>
                  <a:srgbClr val="FFFFFF"/>
                </a:solidFill>
                <a:latin typeface="Montserrat"/>
                <a:ea typeface="Montserrat"/>
                <a:cs typeface="Montserrat"/>
                <a:sym typeface="Montserrat"/>
              </a:endParaRPr>
            </a:p>
            <a:p>
              <a:pPr marL="457200" lvl="0" indent="-310833" algn="l" rtl="0">
                <a:spcBef>
                  <a:spcPts val="900"/>
                </a:spcBef>
                <a:spcAft>
                  <a:spcPts val="0"/>
                </a:spcAft>
                <a:buClr>
                  <a:srgbClr val="FFFFFF"/>
                </a:buClr>
                <a:buSzPts val="1295"/>
                <a:buFont typeface="Montserrat"/>
                <a:buChar char="●"/>
              </a:pPr>
              <a:r>
                <a:rPr lang="en-GB" sz="1018" b="1">
                  <a:solidFill>
                    <a:srgbClr val="00F0FF"/>
                  </a:solidFill>
                  <a:latin typeface="Inter"/>
                  <a:ea typeface="Inter"/>
                  <a:cs typeface="Inter"/>
                  <a:sym typeface="Inter"/>
                </a:rPr>
                <a:t>Currency:</a:t>
              </a:r>
              <a:r>
                <a:rPr lang="en-GB" sz="1018" b="0">
                  <a:solidFill>
                    <a:srgbClr val="94A3B8"/>
                  </a:solidFill>
                  <a:latin typeface="Inter"/>
                  <a:ea typeface="Inter"/>
                  <a:cs typeface="Inter"/>
                  <a:sym typeface="Inter"/>
                </a:rPr>
                <a:t> Monthly USD/LKR exchange rates from CBSL.</a:t>
              </a:r>
              <a:endParaRPr sz="1295" b="1">
                <a:solidFill>
                  <a:srgbClr val="FFFFFF"/>
                </a:solidFill>
                <a:latin typeface="Montserrat"/>
                <a:ea typeface="Montserrat"/>
                <a:cs typeface="Montserrat"/>
                <a:sym typeface="Montserrat"/>
              </a:endParaRPr>
            </a:p>
            <a:p>
              <a:pPr marL="457200" lvl="0" indent="-310833" algn="l" rtl="0">
                <a:spcBef>
                  <a:spcPts val="900"/>
                </a:spcBef>
                <a:spcAft>
                  <a:spcPts val="0"/>
                </a:spcAft>
                <a:buClr>
                  <a:srgbClr val="FFFFFF"/>
                </a:buClr>
                <a:buSzPts val="1295"/>
                <a:buFont typeface="Montserrat"/>
                <a:buChar char="●"/>
              </a:pPr>
              <a:r>
                <a:rPr lang="en-GB" sz="1018" b="1">
                  <a:solidFill>
                    <a:srgbClr val="00F0FF"/>
                  </a:solidFill>
                  <a:latin typeface="Inter"/>
                  <a:ea typeface="Inter"/>
                  <a:cs typeface="Inter"/>
                  <a:sym typeface="Inter"/>
                </a:rPr>
                <a:t>Search Trends:</a:t>
              </a:r>
              <a:r>
                <a:rPr lang="en-GB" sz="1018" b="0">
                  <a:solidFill>
                    <a:srgbClr val="94A3B8"/>
                  </a:solidFill>
                  <a:latin typeface="Inter"/>
                  <a:ea typeface="Inter"/>
                  <a:cs typeface="Inter"/>
                  <a:sym typeface="Inter"/>
                </a:rPr>
                <a:t> Google search volumes for key travel queries.</a:t>
              </a:r>
              <a:endParaRPr sz="1295" b="1">
                <a:solidFill>
                  <a:srgbClr val="FFFFFF"/>
                </a:solidFill>
                <a:latin typeface="Montserrat"/>
                <a:ea typeface="Montserrat"/>
                <a:cs typeface="Montserrat"/>
                <a:sym typeface="Montserrat"/>
              </a:endParaRPr>
            </a:p>
            <a:p>
              <a:pPr marL="0" lvl="0" indent="0" algn="l" rtl="0">
                <a:spcBef>
                  <a:spcPts val="1200"/>
                </a:spcBef>
                <a:spcAft>
                  <a:spcPts val="0"/>
                </a:spcAft>
                <a:buNone/>
              </a:pPr>
              <a:r>
                <a:rPr lang="en-GB" sz="1018" b="1">
                  <a:solidFill>
                    <a:srgbClr val="FFFFFF"/>
                  </a:solidFill>
                  <a:latin typeface="Montserrat"/>
                  <a:ea typeface="Montserrat"/>
                  <a:cs typeface="Montserrat"/>
                  <a:sym typeface="Montserrat"/>
                </a:rPr>
                <a:t>Methodology &amp; Scope</a:t>
              </a:r>
              <a:endParaRPr sz="1018" b="1">
                <a:solidFill>
                  <a:srgbClr val="FFFFFF"/>
                </a:solidFill>
                <a:latin typeface="Montserrat"/>
                <a:ea typeface="Montserrat"/>
                <a:cs typeface="Montserrat"/>
                <a:sym typeface="Montserrat"/>
              </a:endParaRPr>
            </a:p>
            <a:p>
              <a:pPr marL="457200" lvl="0" indent="-310833" algn="l" rtl="0">
                <a:spcBef>
                  <a:spcPts val="600"/>
                </a:spcBef>
                <a:spcAft>
                  <a:spcPts val="0"/>
                </a:spcAft>
                <a:buClr>
                  <a:srgbClr val="FFFFFF"/>
                </a:buClr>
                <a:buSzPts val="1295"/>
                <a:buFont typeface="Montserrat"/>
                <a:buChar char="●"/>
              </a:pPr>
              <a:r>
                <a:rPr lang="en-GB" sz="971" b="0">
                  <a:solidFill>
                    <a:srgbClr val="94A3B8"/>
                  </a:solidFill>
                  <a:latin typeface="Inter"/>
                  <a:ea typeface="Inter"/>
                  <a:cs typeface="Inter"/>
                  <a:sym typeface="Inter"/>
                </a:rPr>
                <a:t>Manually-labeled shock periods covering 2019, 2020–21, 2022.</a:t>
              </a:r>
              <a:endParaRPr sz="1295" b="1">
                <a:solidFill>
                  <a:srgbClr val="FFFFFF"/>
                </a:solidFill>
                <a:latin typeface="Montserrat"/>
                <a:ea typeface="Montserrat"/>
                <a:cs typeface="Montserrat"/>
                <a:sym typeface="Montserrat"/>
              </a:endParaRPr>
            </a:p>
            <a:p>
              <a:pPr marL="457200" lvl="0" indent="-310833" algn="l" rtl="0">
                <a:spcBef>
                  <a:spcPts val="600"/>
                </a:spcBef>
                <a:spcAft>
                  <a:spcPts val="0"/>
                </a:spcAft>
                <a:buClr>
                  <a:srgbClr val="FFFFFF"/>
                </a:buClr>
                <a:buSzPts val="1295"/>
                <a:buFont typeface="Montserrat"/>
                <a:buChar char="●"/>
              </a:pPr>
              <a:r>
                <a:rPr lang="en-GB" sz="971" b="0">
                  <a:solidFill>
                    <a:srgbClr val="94A3B8"/>
                  </a:solidFill>
                  <a:latin typeface="Inter"/>
                  <a:ea typeface="Inter"/>
                  <a:cs typeface="Inter"/>
                  <a:sym typeface="Inter"/>
                </a:rPr>
                <a:t>Entirely public, secondary data with no human participants.</a:t>
              </a:r>
              <a:endParaRPr sz="1295" b="1">
                <a:solidFill>
                  <a:srgbClr val="FFFFFF"/>
                </a:solidFill>
                <a:latin typeface="Montserrat"/>
                <a:ea typeface="Montserrat"/>
                <a:cs typeface="Montserrat"/>
                <a:sym typeface="Montserrat"/>
              </a:endParaRPr>
            </a:p>
          </p:txBody>
        </p:sp>
      </p:grpSp>
      <p:grpSp>
        <p:nvGrpSpPr>
          <p:cNvPr id="178" name="Google Shape;178;p5"/>
          <p:cNvGrpSpPr/>
          <p:nvPr/>
        </p:nvGrpSpPr>
        <p:grpSpPr>
          <a:xfrm>
            <a:off x="788175" y="1190625"/>
            <a:ext cx="688350" cy="690487"/>
            <a:chOff x="-21450" y="0"/>
            <a:chExt cx="688350" cy="690487"/>
          </a:xfrm>
        </p:grpSpPr>
        <p:sp>
          <p:nvSpPr>
            <p:cNvPr id="179" name="Google Shape;179;p5"/>
            <p:cNvSpPr/>
            <p:nvPr/>
          </p:nvSpPr>
          <p:spPr>
            <a:xfrm>
              <a:off x="0" y="0"/>
              <a:ext cx="666900" cy="666900"/>
            </a:xfrm>
            <a:prstGeom prst="ellipse">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0" name="Google Shape;180;p5"/>
            <p:cNvSpPr txBox="1"/>
            <p:nvPr/>
          </p:nvSpPr>
          <p:spPr>
            <a:xfrm>
              <a:off x="-21450" y="23587"/>
              <a:ext cx="666900" cy="666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endParaRPr sz="2800" dirty="0">
                <a:solidFill>
                  <a:srgbClr val="00F0FF"/>
                </a:solidFill>
                <a:latin typeface="Material Icons"/>
                <a:ea typeface="Material Icons"/>
                <a:cs typeface="Material Icons"/>
                <a:sym typeface="Material Icons"/>
              </a:endParaRPr>
            </a:p>
          </p:txBody>
        </p:sp>
      </p:grpSp>
      <p:grpSp>
        <p:nvGrpSpPr>
          <p:cNvPr id="181" name="Google Shape;181;p5"/>
          <p:cNvGrpSpPr/>
          <p:nvPr/>
        </p:nvGrpSpPr>
        <p:grpSpPr>
          <a:xfrm>
            <a:off x="809625" y="2333625"/>
            <a:ext cx="666900" cy="748656"/>
            <a:chOff x="0" y="0"/>
            <a:chExt cx="666900" cy="748656"/>
          </a:xfrm>
        </p:grpSpPr>
        <p:sp>
          <p:nvSpPr>
            <p:cNvPr id="182" name="Google Shape;182;p5"/>
            <p:cNvSpPr/>
            <p:nvPr/>
          </p:nvSpPr>
          <p:spPr>
            <a:xfrm>
              <a:off x="0" y="0"/>
              <a:ext cx="666900" cy="666900"/>
            </a:xfrm>
            <a:prstGeom prst="ellipse">
              <a:avLst/>
            </a:prstGeom>
            <a:solidFill>
              <a:srgbClr val="1E293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3" name="Google Shape;183;p5"/>
            <p:cNvSpPr txBox="1"/>
            <p:nvPr/>
          </p:nvSpPr>
          <p:spPr>
            <a:xfrm>
              <a:off x="0" y="81756"/>
              <a:ext cx="666900" cy="666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endParaRPr sz="2800" dirty="0">
                <a:solidFill>
                  <a:srgbClr val="00F0FF"/>
                </a:solidFill>
                <a:latin typeface="Material Icons"/>
                <a:ea typeface="Material Icons"/>
                <a:cs typeface="Material Icons"/>
                <a:sym typeface="Material Icons"/>
              </a:endParaRPr>
            </a:p>
          </p:txBody>
        </p:sp>
      </p:grpSp>
      <p:grpSp>
        <p:nvGrpSpPr>
          <p:cNvPr id="184" name="Google Shape;184;p5"/>
          <p:cNvGrpSpPr/>
          <p:nvPr/>
        </p:nvGrpSpPr>
        <p:grpSpPr>
          <a:xfrm>
            <a:off x="809625" y="3476625"/>
            <a:ext cx="666900" cy="748656"/>
            <a:chOff x="0" y="0"/>
            <a:chExt cx="666900" cy="748656"/>
          </a:xfrm>
        </p:grpSpPr>
        <p:sp>
          <p:nvSpPr>
            <p:cNvPr id="185" name="Google Shape;185;p5"/>
            <p:cNvSpPr/>
            <p:nvPr/>
          </p:nvSpPr>
          <p:spPr>
            <a:xfrm>
              <a:off x="0" y="0"/>
              <a:ext cx="666900" cy="666900"/>
            </a:xfrm>
            <a:prstGeom prst="ellipse">
              <a:avLst/>
            </a:prstGeom>
            <a:solidFill>
              <a:srgbClr val="1A2D3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6" name="Google Shape;186;p5"/>
            <p:cNvSpPr txBox="1"/>
            <p:nvPr/>
          </p:nvSpPr>
          <p:spPr>
            <a:xfrm>
              <a:off x="0" y="81756"/>
              <a:ext cx="666900" cy="666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endParaRPr sz="2800" dirty="0">
                <a:solidFill>
                  <a:srgbClr val="0D9488"/>
                </a:solidFill>
                <a:latin typeface="Material Icons"/>
                <a:ea typeface="Material Icons"/>
                <a:cs typeface="Material Icons"/>
                <a:sym typeface="Material Icons"/>
              </a:endParaRPr>
            </a:p>
          </p:txBody>
        </p:sp>
      </p:grpSp>
      <p:grpSp>
        <p:nvGrpSpPr>
          <p:cNvPr id="187" name="Google Shape;187;p5"/>
          <p:cNvGrpSpPr/>
          <p:nvPr/>
        </p:nvGrpSpPr>
        <p:grpSpPr>
          <a:xfrm>
            <a:off x="4000500" y="2238375"/>
            <a:ext cx="857400" cy="968335"/>
            <a:chOff x="0" y="0"/>
            <a:chExt cx="857400" cy="968335"/>
          </a:xfrm>
        </p:grpSpPr>
        <p:sp>
          <p:nvSpPr>
            <p:cNvPr id="188" name="Google Shape;188;p5"/>
            <p:cNvSpPr/>
            <p:nvPr/>
          </p:nvSpPr>
          <p:spPr>
            <a:xfrm>
              <a:off x="0" y="0"/>
              <a:ext cx="857400" cy="857400"/>
            </a:xfrm>
            <a:prstGeom prst="ellipse">
              <a:avLst/>
            </a:prstGeom>
            <a:solidFill>
              <a:srgbClr val="111A30"/>
            </a:solidFill>
            <a:ln w="19050"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9" name="Google Shape;189;p5"/>
            <p:cNvSpPr txBox="1"/>
            <p:nvPr/>
          </p:nvSpPr>
          <p:spPr>
            <a:xfrm>
              <a:off x="0" y="110935"/>
              <a:ext cx="857400" cy="857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endParaRPr sz="3800" dirty="0">
                <a:solidFill>
                  <a:srgbClr val="94A3B8"/>
                </a:solidFill>
                <a:latin typeface="Material Icons"/>
                <a:ea typeface="Material Icons"/>
                <a:cs typeface="Material Icons"/>
                <a:sym typeface="Material Icons"/>
              </a:endParaRPr>
            </a:p>
          </p:txBody>
        </p:sp>
      </p:grpSp>
      <p:sp>
        <p:nvSpPr>
          <p:cNvPr id="190" name="Google Shape;190;p5"/>
          <p:cNvSpPr txBox="1"/>
          <p:nvPr/>
        </p:nvSpPr>
        <p:spPr>
          <a:xfrm>
            <a:off x="1619250" y="1238250"/>
            <a:ext cx="1905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FFFFFF"/>
                </a:solidFill>
                <a:latin typeface="Montserrat"/>
                <a:ea typeface="Montserrat"/>
                <a:cs typeface="Montserrat"/>
                <a:sym typeface="Montserrat"/>
              </a:rPr>
              <a:t>Arrivals Data</a:t>
            </a:r>
            <a:endParaRPr sz="1300" b="1">
              <a:solidFill>
                <a:srgbClr val="FFFFFF"/>
              </a:solidFill>
              <a:latin typeface="Montserrat"/>
              <a:ea typeface="Montserrat"/>
              <a:cs typeface="Montserrat"/>
              <a:sym typeface="Montserrat"/>
            </a:endParaRPr>
          </a:p>
          <a:p>
            <a:pPr marL="0" lvl="0" indent="0" algn="l" rtl="0">
              <a:spcBef>
                <a:spcPts val="0"/>
              </a:spcBef>
              <a:spcAft>
                <a:spcPts val="0"/>
              </a:spcAft>
              <a:buNone/>
            </a:pPr>
            <a:r>
              <a:rPr lang="en-GB" sz="1000" b="0">
                <a:solidFill>
                  <a:srgbClr val="94A3B8"/>
                </a:solidFill>
                <a:latin typeface="Inter"/>
                <a:ea typeface="Inter"/>
                <a:cs typeface="Inter"/>
                <a:sym typeface="Inter"/>
              </a:rPr>
              <a:t>SLTDA Reports (2015–2025)</a:t>
            </a:r>
            <a:endParaRPr sz="1000" b="0">
              <a:solidFill>
                <a:srgbClr val="94A3B8"/>
              </a:solidFill>
              <a:latin typeface="Inter"/>
              <a:ea typeface="Inter"/>
              <a:cs typeface="Inter"/>
              <a:sym typeface="Inter"/>
            </a:endParaRPr>
          </a:p>
        </p:txBody>
      </p:sp>
      <p:sp>
        <p:nvSpPr>
          <p:cNvPr id="191" name="Google Shape;191;p5"/>
          <p:cNvSpPr txBox="1"/>
          <p:nvPr/>
        </p:nvSpPr>
        <p:spPr>
          <a:xfrm>
            <a:off x="1619250" y="2381250"/>
            <a:ext cx="1905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FFFFFF"/>
                </a:solidFill>
                <a:latin typeface="Montserrat"/>
                <a:ea typeface="Montserrat"/>
                <a:cs typeface="Montserrat"/>
                <a:sym typeface="Montserrat"/>
              </a:rPr>
              <a:t>Exchange Rate</a:t>
            </a:r>
            <a:endParaRPr sz="1300" b="1">
              <a:solidFill>
                <a:srgbClr val="FFFFFF"/>
              </a:solidFill>
              <a:latin typeface="Montserrat"/>
              <a:ea typeface="Montserrat"/>
              <a:cs typeface="Montserrat"/>
              <a:sym typeface="Montserrat"/>
            </a:endParaRPr>
          </a:p>
          <a:p>
            <a:pPr marL="0" lvl="0" indent="0" algn="l" rtl="0">
              <a:spcBef>
                <a:spcPts val="0"/>
              </a:spcBef>
              <a:spcAft>
                <a:spcPts val="0"/>
              </a:spcAft>
              <a:buNone/>
            </a:pPr>
            <a:r>
              <a:rPr lang="en-GB" sz="1000" b="0">
                <a:solidFill>
                  <a:srgbClr val="94A3B8"/>
                </a:solidFill>
                <a:latin typeface="Inter"/>
                <a:ea typeface="Inter"/>
                <a:cs typeface="Inter"/>
                <a:sym typeface="Inter"/>
              </a:rPr>
              <a:t>CBSL USD/LKR (monthly)</a:t>
            </a:r>
            <a:endParaRPr sz="1000" b="0">
              <a:solidFill>
                <a:srgbClr val="94A3B8"/>
              </a:solidFill>
              <a:latin typeface="Inter"/>
              <a:ea typeface="Inter"/>
              <a:cs typeface="Inter"/>
              <a:sym typeface="Inter"/>
            </a:endParaRPr>
          </a:p>
        </p:txBody>
      </p:sp>
      <p:sp>
        <p:nvSpPr>
          <p:cNvPr id="192" name="Google Shape;192;p5"/>
          <p:cNvSpPr txBox="1"/>
          <p:nvPr/>
        </p:nvSpPr>
        <p:spPr>
          <a:xfrm>
            <a:off x="1619250" y="3524250"/>
            <a:ext cx="1905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1300" b="1">
                <a:solidFill>
                  <a:srgbClr val="FFFFFF"/>
                </a:solidFill>
                <a:latin typeface="Montserrat"/>
                <a:ea typeface="Montserrat"/>
                <a:cs typeface="Montserrat"/>
                <a:sym typeface="Montserrat"/>
              </a:rPr>
              <a:t>Search Trends</a:t>
            </a:r>
            <a:endParaRPr sz="1300" b="1">
              <a:solidFill>
                <a:srgbClr val="FFFFFF"/>
              </a:solidFill>
              <a:latin typeface="Montserrat"/>
              <a:ea typeface="Montserrat"/>
              <a:cs typeface="Montserrat"/>
              <a:sym typeface="Montserrat"/>
            </a:endParaRPr>
          </a:p>
          <a:p>
            <a:pPr marL="0" lvl="0" indent="0" algn="l" rtl="0">
              <a:spcBef>
                <a:spcPts val="0"/>
              </a:spcBef>
              <a:spcAft>
                <a:spcPts val="0"/>
              </a:spcAft>
              <a:buNone/>
            </a:pPr>
            <a:r>
              <a:rPr lang="en-GB" sz="1000" b="0">
                <a:solidFill>
                  <a:srgbClr val="94A3B8"/>
                </a:solidFill>
                <a:latin typeface="Inter"/>
                <a:ea typeface="Inter"/>
                <a:cs typeface="Inter"/>
                <a:sym typeface="Inter"/>
              </a:rPr>
              <a:t>Google Flights, Hotels, Visa</a:t>
            </a:r>
            <a:endParaRPr sz="1000" b="0">
              <a:solidFill>
                <a:srgbClr val="94A3B8"/>
              </a:solidFill>
              <a:latin typeface="Inter"/>
              <a:ea typeface="Inter"/>
              <a:cs typeface="Inter"/>
              <a:sym typeface="Inter"/>
            </a:endParaRPr>
          </a:p>
        </p:txBody>
      </p:sp>
      <p:sp>
        <p:nvSpPr>
          <p:cNvPr id="193" name="Google Shape;193;p5"/>
          <p:cNvSpPr txBox="1"/>
          <p:nvPr/>
        </p:nvSpPr>
        <p:spPr>
          <a:xfrm>
            <a:off x="3810000" y="3190875"/>
            <a:ext cx="1238400" cy="3810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GB" sz="1100" b="1">
                <a:solidFill>
                  <a:srgbClr val="94A3B8"/>
                </a:solidFill>
                <a:latin typeface="Inter"/>
                <a:ea typeface="Inter"/>
                <a:cs typeface="Inter"/>
                <a:sym typeface="Inter"/>
              </a:rPr>
              <a:t>Central Database</a:t>
            </a:r>
            <a:endParaRPr sz="1100" b="1">
              <a:solidFill>
                <a:srgbClr val="94A3B8"/>
              </a:solidFill>
              <a:latin typeface="Inter"/>
              <a:ea typeface="Inter"/>
              <a:cs typeface="Inter"/>
              <a:sym typeface="Inter"/>
            </a:endParaRPr>
          </a:p>
        </p:txBody>
      </p:sp>
      <p:pic>
        <p:nvPicPr>
          <p:cNvPr id="3" name="Picture 2">
            <a:extLst>
              <a:ext uri="{FF2B5EF4-FFF2-40B4-BE49-F238E27FC236}">
                <a16:creationId xmlns:a16="http://schemas.microsoft.com/office/drawing/2014/main" id="{05122401-F129-2DFA-6ACD-3FD9DDAE240E}"/>
              </a:ext>
            </a:extLst>
          </p:cNvPr>
          <p:cNvPicPr>
            <a:picLocks noChangeAspect="1"/>
          </p:cNvPicPr>
          <p:nvPr/>
        </p:nvPicPr>
        <p:blipFill>
          <a:blip r:embed="rId7"/>
          <a:stretch>
            <a:fillRect/>
          </a:stretch>
        </p:blipFill>
        <p:spPr>
          <a:xfrm>
            <a:off x="883462" y="1264387"/>
            <a:ext cx="519225" cy="519225"/>
          </a:xfrm>
          <a:prstGeom prst="rect">
            <a:avLst/>
          </a:prstGeom>
        </p:spPr>
      </p:pic>
      <p:pic>
        <p:nvPicPr>
          <p:cNvPr id="5" name="Picture 4">
            <a:extLst>
              <a:ext uri="{FF2B5EF4-FFF2-40B4-BE49-F238E27FC236}">
                <a16:creationId xmlns:a16="http://schemas.microsoft.com/office/drawing/2014/main" id="{67D168D8-5D17-DAB2-74AD-F78981A3AFDB}"/>
              </a:ext>
            </a:extLst>
          </p:cNvPr>
          <p:cNvPicPr>
            <a:picLocks noChangeAspect="1"/>
          </p:cNvPicPr>
          <p:nvPr/>
        </p:nvPicPr>
        <p:blipFill>
          <a:blip r:embed="rId8"/>
          <a:stretch>
            <a:fillRect/>
          </a:stretch>
        </p:blipFill>
        <p:spPr>
          <a:xfrm>
            <a:off x="889571" y="2406183"/>
            <a:ext cx="506857" cy="506857"/>
          </a:xfrm>
          <a:prstGeom prst="rect">
            <a:avLst/>
          </a:prstGeom>
        </p:spPr>
      </p:pic>
      <p:pic>
        <p:nvPicPr>
          <p:cNvPr id="7" name="Picture 6">
            <a:extLst>
              <a:ext uri="{FF2B5EF4-FFF2-40B4-BE49-F238E27FC236}">
                <a16:creationId xmlns:a16="http://schemas.microsoft.com/office/drawing/2014/main" id="{82AC716E-7607-27FF-3A34-703F5253D568}"/>
              </a:ext>
            </a:extLst>
          </p:cNvPr>
          <p:cNvPicPr>
            <a:picLocks noChangeAspect="1"/>
          </p:cNvPicPr>
          <p:nvPr/>
        </p:nvPicPr>
        <p:blipFill>
          <a:blip r:embed="rId9"/>
          <a:stretch>
            <a:fillRect/>
          </a:stretch>
        </p:blipFill>
        <p:spPr>
          <a:xfrm>
            <a:off x="909600" y="3590107"/>
            <a:ext cx="459825" cy="459825"/>
          </a:xfrm>
          <a:prstGeom prst="rect">
            <a:avLst/>
          </a:prstGeom>
        </p:spPr>
      </p:pic>
      <p:pic>
        <p:nvPicPr>
          <p:cNvPr id="9" name="Picture 8">
            <a:extLst>
              <a:ext uri="{FF2B5EF4-FFF2-40B4-BE49-F238E27FC236}">
                <a16:creationId xmlns:a16="http://schemas.microsoft.com/office/drawing/2014/main" id="{DBCB51ED-FCEF-A7F5-D36B-8CDF8B7A6C63}"/>
              </a:ext>
            </a:extLst>
          </p:cNvPr>
          <p:cNvPicPr>
            <a:picLocks noChangeAspect="1"/>
          </p:cNvPicPr>
          <p:nvPr/>
        </p:nvPicPr>
        <p:blipFill>
          <a:blip r:embed="rId10"/>
          <a:stretch>
            <a:fillRect/>
          </a:stretch>
        </p:blipFill>
        <p:spPr>
          <a:xfrm>
            <a:off x="4171032" y="2431652"/>
            <a:ext cx="516336" cy="5163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7"/>
        <p:cNvGrpSpPr/>
        <p:nvPr/>
      </p:nvGrpSpPr>
      <p:grpSpPr>
        <a:xfrm>
          <a:off x="0" y="0"/>
          <a:ext cx="0" cy="0"/>
          <a:chOff x="0" y="0"/>
          <a:chExt cx="0" cy="0"/>
        </a:xfrm>
      </p:grpSpPr>
      <p:sp>
        <p:nvSpPr>
          <p:cNvPr id="198" name="Google Shape;198;p6"/>
          <p:cNvSpPr txBox="1">
            <a:spLocks noGrp="1"/>
          </p:cNvSpPr>
          <p:nvPr>
            <p:ph type="title"/>
          </p:nvPr>
        </p:nvSpPr>
        <p:spPr>
          <a:xfrm>
            <a:off x="571500" y="428625"/>
            <a:ext cx="8001000" cy="571500"/>
          </a:xfrm>
          <a:prstGeom prst="rect">
            <a:avLst/>
          </a:prstGeom>
          <a:solidFill>
            <a:srgbClr val="000000">
              <a:alpha val="0"/>
            </a:srgbClr>
          </a:solidFill>
          <a:ln>
            <a:noFill/>
          </a:ln>
        </p:spPr>
        <p:txBody>
          <a:bodyPr spcFirstLastPara="1" wrap="square" lIns="0" tIns="0" rIns="0" bIns="0" anchor="ctr" anchorCtr="0">
            <a:normAutofit/>
          </a:bodyPr>
          <a:lstStyle/>
          <a:p>
            <a:pPr marL="0" lvl="0" indent="0" algn="l" rtl="0">
              <a:spcBef>
                <a:spcPts val="0"/>
              </a:spcBef>
              <a:spcAft>
                <a:spcPts val="0"/>
              </a:spcAft>
              <a:buNone/>
            </a:pPr>
            <a:r>
              <a:rPr lang="en-GB" sz="2600" b="0">
                <a:solidFill>
                  <a:srgbClr val="0F172A"/>
                </a:solidFill>
                <a:latin typeface="Montserrat ExtraBold"/>
                <a:ea typeface="Montserrat ExtraBold"/>
                <a:cs typeface="Montserrat ExtraBold"/>
                <a:sym typeface="Montserrat ExtraBold"/>
              </a:rPr>
              <a:t>The Hybrid Model, Explained Simply</a:t>
            </a:r>
            <a:endParaRPr sz="2600" b="0">
              <a:solidFill>
                <a:srgbClr val="0F172A"/>
              </a:solidFill>
              <a:latin typeface="Montserrat ExtraBold"/>
              <a:ea typeface="Montserrat ExtraBold"/>
              <a:cs typeface="Montserrat ExtraBold"/>
              <a:sym typeface="Montserrat ExtraBold"/>
            </a:endParaRPr>
          </a:p>
        </p:txBody>
      </p:sp>
      <p:grpSp>
        <p:nvGrpSpPr>
          <p:cNvPr id="199" name="Google Shape;199;p6"/>
          <p:cNvGrpSpPr/>
          <p:nvPr/>
        </p:nvGrpSpPr>
        <p:grpSpPr>
          <a:xfrm>
            <a:off x="4476750" y="1238250"/>
            <a:ext cx="4095900" cy="952500"/>
            <a:chOff x="4476750" y="1238250"/>
            <a:chExt cx="4095900" cy="952500"/>
          </a:xfrm>
        </p:grpSpPr>
        <p:sp>
          <p:nvSpPr>
            <p:cNvPr id="200" name="Google Shape;200;p6"/>
            <p:cNvSpPr/>
            <p:nvPr/>
          </p:nvSpPr>
          <p:spPr>
            <a:xfrm>
              <a:off x="4476750" y="1238250"/>
              <a:ext cx="4095900" cy="952500"/>
            </a:xfrm>
            <a:prstGeom prst="roundRect">
              <a:avLst>
                <a:gd name="adj" fmla="val 80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1" name="Google Shape;201;p6"/>
            <p:cNvSpPr/>
            <p:nvPr/>
          </p:nvSpPr>
          <p:spPr>
            <a:xfrm>
              <a:off x="4476750" y="1238250"/>
              <a:ext cx="76200" cy="952500"/>
            </a:xfrm>
            <a:custGeom>
              <a:avLst/>
              <a:gdLst/>
              <a:ahLst/>
              <a:cxnLst/>
              <a:rect l="l" t="t" r="r" b="b"/>
              <a:pathLst>
                <a:path w="120000" h="120000" extrusionOk="0">
                  <a:moveTo>
                    <a:pt x="0" y="9600"/>
                  </a:moveTo>
                  <a:cubicBezTo>
                    <a:pt x="0" y="4298"/>
                    <a:pt x="53726" y="0"/>
                    <a:pt x="120000" y="0"/>
                  </a:cubicBezTo>
                  <a:lnTo>
                    <a:pt x="120000" y="120000"/>
                  </a:lnTo>
                  <a:cubicBezTo>
                    <a:pt x="53726" y="120000"/>
                    <a:pt x="0" y="115702"/>
                    <a:pt x="0" y="110400"/>
                  </a:cubicBezTo>
                  <a:close/>
                </a:path>
              </a:pathLst>
            </a:cu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2" name="Google Shape;202;p6"/>
            <p:cNvSpPr txBox="1"/>
            <p:nvPr/>
          </p:nvSpPr>
          <p:spPr>
            <a:xfrm>
              <a:off x="4714875" y="1333500"/>
              <a:ext cx="37149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900" b="1">
                  <a:solidFill>
                    <a:srgbClr val="0284C7"/>
                  </a:solidFill>
                  <a:latin typeface="Arial"/>
                  <a:ea typeface="Arial"/>
                  <a:cs typeface="Arial"/>
                  <a:sym typeface="Arial"/>
                </a:rPr>
                <a:t>STAGE 1</a:t>
              </a:r>
              <a:endParaRPr sz="900" b="1">
                <a:solidFill>
                  <a:srgbClr val="0284C7"/>
                </a:solidFill>
                <a:latin typeface="Arial"/>
                <a:ea typeface="Arial"/>
                <a:cs typeface="Arial"/>
                <a:sym typeface="Arial"/>
              </a:endParaRPr>
            </a:p>
            <a:p>
              <a:pPr marL="0" lvl="0" indent="0" algn="l" rtl="0">
                <a:spcBef>
                  <a:spcPts val="150"/>
                </a:spcBef>
                <a:spcAft>
                  <a:spcPts val="0"/>
                </a:spcAft>
                <a:buNone/>
              </a:pPr>
              <a:r>
                <a:rPr lang="en-GB" sz="1400" b="1">
                  <a:solidFill>
                    <a:srgbClr val="0F172A"/>
                  </a:solidFill>
                  <a:latin typeface="Arial"/>
                  <a:ea typeface="Arial"/>
                  <a:cs typeface="Arial"/>
                  <a:sym typeface="Arial"/>
                </a:rPr>
                <a:t>LSTM</a:t>
              </a:r>
              <a:endParaRPr sz="1400" b="1">
                <a:solidFill>
                  <a:srgbClr val="0F172A"/>
                </a:solidFill>
                <a:latin typeface="Arial"/>
                <a:ea typeface="Arial"/>
                <a:cs typeface="Arial"/>
                <a:sym typeface="Arial"/>
              </a:endParaRPr>
            </a:p>
            <a:p>
              <a:pPr marL="0" lvl="0" indent="0" algn="l" rtl="0">
                <a:spcBef>
                  <a:spcPts val="300"/>
                </a:spcBef>
                <a:spcAft>
                  <a:spcPts val="0"/>
                </a:spcAft>
                <a:buNone/>
              </a:pPr>
              <a:r>
                <a:rPr lang="en-GB" sz="1050" b="0">
                  <a:solidFill>
                    <a:srgbClr val="475569"/>
                  </a:solidFill>
                  <a:latin typeface="Arial"/>
                  <a:ea typeface="Arial"/>
                  <a:cs typeface="Arial"/>
                  <a:sym typeface="Arial"/>
                </a:rPr>
                <a:t>A neural network specialized in learning long-term seasonal patterns (e.g., December is always busier).</a:t>
              </a:r>
              <a:endParaRPr sz="1050" b="0">
                <a:solidFill>
                  <a:srgbClr val="475569"/>
                </a:solidFill>
                <a:latin typeface="Arial"/>
                <a:ea typeface="Arial"/>
                <a:cs typeface="Arial"/>
                <a:sym typeface="Arial"/>
              </a:endParaRPr>
            </a:p>
          </p:txBody>
        </p:sp>
      </p:grpSp>
      <p:grpSp>
        <p:nvGrpSpPr>
          <p:cNvPr id="203" name="Google Shape;203;p6"/>
          <p:cNvGrpSpPr/>
          <p:nvPr/>
        </p:nvGrpSpPr>
        <p:grpSpPr>
          <a:xfrm>
            <a:off x="4476750" y="2333625"/>
            <a:ext cx="4095900" cy="1047900"/>
            <a:chOff x="4476750" y="2333625"/>
            <a:chExt cx="4095900" cy="1047900"/>
          </a:xfrm>
        </p:grpSpPr>
        <p:sp>
          <p:nvSpPr>
            <p:cNvPr id="204" name="Google Shape;204;p6"/>
            <p:cNvSpPr/>
            <p:nvPr/>
          </p:nvSpPr>
          <p:spPr>
            <a:xfrm>
              <a:off x="4476750" y="2333625"/>
              <a:ext cx="4095900" cy="1047900"/>
            </a:xfrm>
            <a:prstGeom prst="roundRect">
              <a:avLst>
                <a:gd name="adj" fmla="val 7272"/>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5" name="Google Shape;205;p6"/>
            <p:cNvSpPr/>
            <p:nvPr/>
          </p:nvSpPr>
          <p:spPr>
            <a:xfrm>
              <a:off x="4476750" y="2333625"/>
              <a:ext cx="76200" cy="1047900"/>
            </a:xfrm>
            <a:custGeom>
              <a:avLst/>
              <a:gdLst/>
              <a:ahLst/>
              <a:cxnLst/>
              <a:rect l="l" t="t" r="r" b="b"/>
              <a:pathLst>
                <a:path w="120000" h="120000" extrusionOk="0">
                  <a:moveTo>
                    <a:pt x="0" y="8727"/>
                  </a:moveTo>
                  <a:cubicBezTo>
                    <a:pt x="2" y="3907"/>
                    <a:pt x="53727" y="0"/>
                    <a:pt x="120000" y="0"/>
                  </a:cubicBezTo>
                  <a:lnTo>
                    <a:pt x="120000" y="120000"/>
                  </a:lnTo>
                  <a:cubicBezTo>
                    <a:pt x="88174" y="120000"/>
                    <a:pt x="57652" y="119081"/>
                    <a:pt x="35147" y="117444"/>
                  </a:cubicBezTo>
                  <a:cubicBezTo>
                    <a:pt x="12643" y="115807"/>
                    <a:pt x="0" y="113587"/>
                    <a:pt x="0" y="111273"/>
                  </a:cubicBezTo>
                  <a:close/>
                </a:path>
              </a:pathLst>
            </a:cu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6" name="Google Shape;206;p6"/>
            <p:cNvSpPr txBox="1"/>
            <p:nvPr/>
          </p:nvSpPr>
          <p:spPr>
            <a:xfrm>
              <a:off x="4714875" y="2428875"/>
              <a:ext cx="37149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33" b="1">
                  <a:solidFill>
                    <a:srgbClr val="0D9488"/>
                  </a:solidFill>
                  <a:latin typeface="Arial"/>
                  <a:ea typeface="Arial"/>
                  <a:cs typeface="Arial"/>
                  <a:sym typeface="Arial"/>
                </a:rPr>
                <a:t>STAGE 2</a:t>
              </a:r>
              <a:endParaRPr sz="833" b="1">
                <a:solidFill>
                  <a:srgbClr val="0D9488"/>
                </a:solidFill>
                <a:latin typeface="Arial"/>
                <a:ea typeface="Arial"/>
                <a:cs typeface="Arial"/>
                <a:sym typeface="Arial"/>
              </a:endParaRPr>
            </a:p>
            <a:p>
              <a:pPr marL="0" lvl="0" indent="0" algn="l" rtl="0">
                <a:spcBef>
                  <a:spcPts val="150"/>
                </a:spcBef>
                <a:spcAft>
                  <a:spcPts val="0"/>
                </a:spcAft>
                <a:buNone/>
              </a:pPr>
              <a:r>
                <a:rPr lang="en-GB" sz="1295" b="1">
                  <a:solidFill>
                    <a:srgbClr val="0F172A"/>
                  </a:solidFill>
                  <a:latin typeface="Arial"/>
                  <a:ea typeface="Arial"/>
                  <a:cs typeface="Arial"/>
                  <a:sym typeface="Arial"/>
                </a:rPr>
                <a:t>XGBoost</a:t>
              </a:r>
              <a:endParaRPr sz="1295" b="1">
                <a:solidFill>
                  <a:srgbClr val="0F172A"/>
                </a:solidFill>
                <a:latin typeface="Arial"/>
                <a:ea typeface="Arial"/>
                <a:cs typeface="Arial"/>
                <a:sym typeface="Arial"/>
              </a:endParaRPr>
            </a:p>
            <a:p>
              <a:pPr marL="0" lvl="0" indent="0" algn="l" rtl="0">
                <a:spcBef>
                  <a:spcPts val="300"/>
                </a:spcBef>
                <a:spcAft>
                  <a:spcPts val="0"/>
                </a:spcAft>
                <a:buNone/>
              </a:pPr>
              <a:r>
                <a:rPr lang="en-GB" sz="971" b="0">
                  <a:solidFill>
                    <a:srgbClr val="475569"/>
                  </a:solidFill>
                  <a:latin typeface="Arial"/>
                  <a:ea typeface="Arial"/>
                  <a:cs typeface="Arial"/>
                  <a:sym typeface="Arial"/>
                </a:rPr>
                <a:t>Excellent at combining multiple diverse signals (exchange rates, search trends, shock flags) to catch complex relationships.</a:t>
              </a:r>
              <a:endParaRPr sz="971" b="0">
                <a:solidFill>
                  <a:srgbClr val="475569"/>
                </a:solidFill>
                <a:latin typeface="Arial"/>
                <a:ea typeface="Arial"/>
                <a:cs typeface="Arial"/>
                <a:sym typeface="Arial"/>
              </a:endParaRPr>
            </a:p>
          </p:txBody>
        </p:sp>
      </p:grpSp>
      <p:grpSp>
        <p:nvGrpSpPr>
          <p:cNvPr id="207" name="Google Shape;207;p6"/>
          <p:cNvGrpSpPr/>
          <p:nvPr/>
        </p:nvGrpSpPr>
        <p:grpSpPr>
          <a:xfrm>
            <a:off x="4476750" y="3524250"/>
            <a:ext cx="4095900" cy="1047900"/>
            <a:chOff x="4476750" y="3524250"/>
            <a:chExt cx="4095900" cy="1047900"/>
          </a:xfrm>
        </p:grpSpPr>
        <p:sp>
          <p:nvSpPr>
            <p:cNvPr id="208" name="Google Shape;208;p6"/>
            <p:cNvSpPr/>
            <p:nvPr/>
          </p:nvSpPr>
          <p:spPr>
            <a:xfrm>
              <a:off x="4476750" y="3524250"/>
              <a:ext cx="4095900" cy="1047900"/>
            </a:xfrm>
            <a:prstGeom prst="roundRect">
              <a:avLst>
                <a:gd name="adj" fmla="val 7272"/>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9" name="Google Shape;209;p6"/>
            <p:cNvSpPr/>
            <p:nvPr/>
          </p:nvSpPr>
          <p:spPr>
            <a:xfrm>
              <a:off x="4476750" y="3524250"/>
              <a:ext cx="76200" cy="1047900"/>
            </a:xfrm>
            <a:custGeom>
              <a:avLst/>
              <a:gdLst/>
              <a:ahLst/>
              <a:cxnLst/>
              <a:rect l="l" t="t" r="r" b="b"/>
              <a:pathLst>
                <a:path w="120000" h="120000" extrusionOk="0">
                  <a:moveTo>
                    <a:pt x="0" y="8727"/>
                  </a:moveTo>
                  <a:cubicBezTo>
                    <a:pt x="2" y="3907"/>
                    <a:pt x="53727" y="0"/>
                    <a:pt x="120000" y="0"/>
                  </a:cubicBezTo>
                  <a:lnTo>
                    <a:pt x="120000" y="120000"/>
                  </a:lnTo>
                  <a:cubicBezTo>
                    <a:pt x="88174" y="120000"/>
                    <a:pt x="57652" y="119081"/>
                    <a:pt x="35147" y="117444"/>
                  </a:cubicBezTo>
                  <a:cubicBezTo>
                    <a:pt x="12643" y="115807"/>
                    <a:pt x="0" y="113587"/>
                    <a:pt x="0" y="111273"/>
                  </a:cubicBezTo>
                  <a:close/>
                </a:path>
              </a:pathLst>
            </a:custGeom>
            <a:solidFill>
              <a:srgbClr val="4F46E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0" name="Google Shape;210;p6"/>
            <p:cNvSpPr txBox="1"/>
            <p:nvPr/>
          </p:nvSpPr>
          <p:spPr>
            <a:xfrm>
              <a:off x="4714875" y="3619500"/>
              <a:ext cx="3714900" cy="857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900" b="1">
                  <a:solidFill>
                    <a:srgbClr val="4F46E5"/>
                  </a:solidFill>
                  <a:latin typeface="Arial"/>
                  <a:ea typeface="Arial"/>
                  <a:cs typeface="Arial"/>
                  <a:sym typeface="Arial"/>
                </a:rPr>
                <a:t>FINAL OUTPUT</a:t>
              </a:r>
              <a:endParaRPr sz="900" b="1">
                <a:solidFill>
                  <a:srgbClr val="4F46E5"/>
                </a:solidFill>
                <a:latin typeface="Arial"/>
                <a:ea typeface="Arial"/>
                <a:cs typeface="Arial"/>
                <a:sym typeface="Arial"/>
              </a:endParaRPr>
            </a:p>
            <a:p>
              <a:pPr marL="0" lvl="0" indent="0" algn="l" rtl="0">
                <a:spcBef>
                  <a:spcPts val="150"/>
                </a:spcBef>
                <a:spcAft>
                  <a:spcPts val="0"/>
                </a:spcAft>
                <a:buNone/>
              </a:pPr>
              <a:r>
                <a:rPr lang="en-GB" sz="1400" b="1">
                  <a:solidFill>
                    <a:srgbClr val="0F172A"/>
                  </a:solidFill>
                  <a:latin typeface="Arial"/>
                  <a:ea typeface="Arial"/>
                  <a:cs typeface="Arial"/>
                  <a:sym typeface="Arial"/>
                </a:rPr>
                <a:t>Hybrid Stacking</a:t>
              </a:r>
              <a:endParaRPr sz="1400" b="1">
                <a:solidFill>
                  <a:srgbClr val="0F172A"/>
                </a:solidFill>
                <a:latin typeface="Arial"/>
                <a:ea typeface="Arial"/>
                <a:cs typeface="Arial"/>
                <a:sym typeface="Arial"/>
              </a:endParaRPr>
            </a:p>
            <a:p>
              <a:pPr marL="0" lvl="0" indent="0" algn="l" rtl="0">
                <a:spcBef>
                  <a:spcPts val="300"/>
                </a:spcBef>
                <a:spcAft>
                  <a:spcPts val="0"/>
                </a:spcAft>
                <a:buNone/>
              </a:pPr>
              <a:r>
                <a:rPr lang="en-GB" sz="1050" b="0">
                  <a:solidFill>
                    <a:srgbClr val="475569"/>
                  </a:solidFill>
                  <a:latin typeface="Arial"/>
                  <a:ea typeface="Arial"/>
                  <a:cs typeface="Arial"/>
                  <a:sym typeface="Arial"/>
                </a:rPr>
                <a:t>LSTM makes an initial prediction → fed into XGBoost as extra input → XGBoost produces final, corrected forecast.</a:t>
              </a:r>
              <a:endParaRPr sz="1050" b="0">
                <a:solidFill>
                  <a:srgbClr val="475569"/>
                </a:solidFill>
                <a:latin typeface="Arial"/>
                <a:ea typeface="Arial"/>
                <a:cs typeface="Arial"/>
                <a:sym typeface="Arial"/>
              </a:endParaRPr>
            </a:p>
          </p:txBody>
        </p:sp>
      </p:grpSp>
      <p:grpSp>
        <p:nvGrpSpPr>
          <p:cNvPr id="211" name="Google Shape;211;p6"/>
          <p:cNvGrpSpPr/>
          <p:nvPr/>
        </p:nvGrpSpPr>
        <p:grpSpPr>
          <a:xfrm>
            <a:off x="571500" y="1238250"/>
            <a:ext cx="3619500" cy="3333900"/>
            <a:chOff x="571500" y="1238250"/>
            <a:chExt cx="3619500" cy="3333900"/>
          </a:xfrm>
        </p:grpSpPr>
        <p:sp>
          <p:nvSpPr>
            <p:cNvPr id="212" name="Google Shape;212;p6"/>
            <p:cNvSpPr/>
            <p:nvPr/>
          </p:nvSpPr>
          <p:spPr>
            <a:xfrm>
              <a:off x="571500" y="1238250"/>
              <a:ext cx="3619500" cy="3333900"/>
            </a:xfrm>
            <a:prstGeom prst="roundRect">
              <a:avLst>
                <a:gd name="adj" fmla="val 3428"/>
              </a:avLst>
            </a:prstGeom>
            <a:solidFill>
              <a:schemeClr val="lt1"/>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3" name="Google Shape;213;p6"/>
            <p:cNvSpPr txBox="1"/>
            <p:nvPr/>
          </p:nvSpPr>
          <p:spPr>
            <a:xfrm>
              <a:off x="762000" y="1428750"/>
              <a:ext cx="3238500" cy="285900"/>
            </a:xfrm>
            <a:prstGeom prst="rect">
              <a:avLst/>
            </a:prstGeom>
            <a:solidFill>
              <a:schemeClr val="lt1"/>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38BDF8"/>
                  </a:solidFill>
                  <a:latin typeface="Montserrat"/>
                  <a:ea typeface="Montserrat"/>
                  <a:cs typeface="Montserrat"/>
                  <a:sym typeface="Montserrat"/>
                </a:rPr>
                <a:t>System Architecture</a:t>
              </a:r>
              <a:endParaRPr sz="1000" b="1">
                <a:solidFill>
                  <a:srgbClr val="38BDF8"/>
                </a:solidFill>
                <a:latin typeface="Montserrat"/>
                <a:ea typeface="Montserrat"/>
                <a:cs typeface="Montserrat"/>
                <a:sym typeface="Montserrat"/>
              </a:endParaRPr>
            </a:p>
          </p:txBody>
        </p:sp>
      </p:grpSp>
      <p:pic>
        <p:nvPicPr>
          <p:cNvPr id="214" name="Google Shape;214;p6"/>
          <p:cNvPicPr preferRelativeResize="0"/>
          <p:nvPr/>
        </p:nvPicPr>
        <p:blipFill>
          <a:blip r:embed="rId4">
            <a:alphaModFix/>
          </a:blip>
          <a:stretch>
            <a:fillRect/>
          </a:stretch>
        </p:blipFill>
        <p:spPr>
          <a:xfrm>
            <a:off x="1113175" y="1792437"/>
            <a:ext cx="2536150" cy="25361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fade">
                                      <p:cBhvr>
                                        <p:cTn id="7" dur="10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8"/>
        <p:cNvGrpSpPr/>
        <p:nvPr/>
      </p:nvGrpSpPr>
      <p:grpSpPr>
        <a:xfrm>
          <a:off x="0" y="0"/>
          <a:ext cx="0" cy="0"/>
          <a:chOff x="0" y="0"/>
          <a:chExt cx="0" cy="0"/>
        </a:xfrm>
      </p:grpSpPr>
      <p:sp>
        <p:nvSpPr>
          <p:cNvPr id="219" name="Google Shape;219;g3f830a837a6_0_792"/>
          <p:cNvSpPr txBox="1"/>
          <p:nvPr/>
        </p:nvSpPr>
        <p:spPr>
          <a:xfrm>
            <a:off x="571500" y="428625"/>
            <a:ext cx="8001000" cy="4764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2600" b="1">
                <a:solidFill>
                  <a:srgbClr val="FFFFFF"/>
                </a:solidFill>
                <a:latin typeface="Arial"/>
                <a:ea typeface="Arial"/>
                <a:cs typeface="Arial"/>
                <a:sym typeface="Arial"/>
              </a:rPr>
              <a:t>Evaluation Method</a:t>
            </a:r>
            <a:endParaRPr sz="2600" b="1">
              <a:solidFill>
                <a:srgbClr val="FFFFFF"/>
              </a:solidFill>
              <a:latin typeface="Arial"/>
              <a:ea typeface="Arial"/>
              <a:cs typeface="Arial"/>
              <a:sym typeface="Arial"/>
            </a:endParaRPr>
          </a:p>
        </p:txBody>
      </p:sp>
      <p:grpSp>
        <p:nvGrpSpPr>
          <p:cNvPr id="220" name="Google Shape;220;g3f830a837a6_0_792"/>
          <p:cNvGrpSpPr/>
          <p:nvPr/>
        </p:nvGrpSpPr>
        <p:grpSpPr>
          <a:xfrm>
            <a:off x="571500" y="1095375"/>
            <a:ext cx="4381500" cy="3524400"/>
            <a:chOff x="0" y="0"/>
            <a:chExt cx="4381500" cy="3524400"/>
          </a:xfrm>
        </p:grpSpPr>
        <p:sp>
          <p:nvSpPr>
            <p:cNvPr id="221" name="Google Shape;221;g3f830a837a6_0_792"/>
            <p:cNvSpPr/>
            <p:nvPr/>
          </p:nvSpPr>
          <p:spPr>
            <a:xfrm>
              <a:off x="0" y="0"/>
              <a:ext cx="4381500" cy="3524400"/>
            </a:xfrm>
            <a:prstGeom prst="roundRect">
              <a:avLst>
                <a:gd name="adj" fmla="val 3242"/>
              </a:avLst>
            </a:prstGeom>
            <a:solidFill>
              <a:srgbClr val="111A30"/>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2" name="Google Shape;222;g3f830a837a6_0_792"/>
            <p:cNvSpPr txBox="1"/>
            <p:nvPr/>
          </p:nvSpPr>
          <p:spPr>
            <a:xfrm>
              <a:off x="228600" y="228600"/>
              <a:ext cx="3924300" cy="3067200"/>
            </a:xfrm>
            <a:prstGeom prst="rect">
              <a:avLst/>
            </a:prstGeom>
            <a:solidFill>
              <a:srgbClr val="000000">
                <a:alpha val="0"/>
              </a:srgbClr>
            </a:solidFill>
            <a:ln>
              <a:noFill/>
            </a:ln>
          </p:spPr>
          <p:txBody>
            <a:bodyPr spcFirstLastPara="1" wrap="square" lIns="0" tIns="0" rIns="0" bIns="0" anchor="t" anchorCtr="0">
              <a:noAutofit/>
            </a:bodyPr>
            <a:lstStyle/>
            <a:p>
              <a:pPr marL="457200" lvl="0" indent="-301625" algn="l" rtl="0">
                <a:spcBef>
                  <a:spcPts val="0"/>
                </a:spcBef>
                <a:spcAft>
                  <a:spcPts val="0"/>
                </a:spcAft>
                <a:buClr>
                  <a:srgbClr val="F8FAFC"/>
                </a:buClr>
                <a:buSzPts val="1150"/>
                <a:buFont typeface="Arial"/>
                <a:buChar char="●"/>
              </a:pPr>
              <a:r>
                <a:rPr lang="en-GB" sz="1150" b="1" dirty="0">
                  <a:solidFill>
                    <a:srgbClr val="F8FAFC"/>
                  </a:solidFill>
                  <a:latin typeface="Arial"/>
                  <a:ea typeface="Arial"/>
                  <a:cs typeface="Arial"/>
                  <a:sym typeface="Arial"/>
                </a:rPr>
                <a:t>Chronological split: </a:t>
              </a:r>
              <a:r>
                <a:rPr lang="en-GB" sz="1150" b="0" dirty="0">
                  <a:solidFill>
                    <a:srgbClr val="94A3B8"/>
                  </a:solidFill>
                  <a:latin typeface="Arial"/>
                  <a:ea typeface="Arial"/>
                  <a:cs typeface="Arial"/>
                  <a:sym typeface="Arial"/>
                </a:rPr>
                <a:t>train on 2015–2021, test on 2022–2025</a:t>
              </a:r>
              <a:endParaRPr sz="1150" b="1" dirty="0">
                <a:solidFill>
                  <a:srgbClr val="F8FAFC"/>
                </a:solidFill>
                <a:latin typeface="Arial"/>
                <a:ea typeface="Arial"/>
                <a:cs typeface="Arial"/>
                <a:sym typeface="Arial"/>
              </a:endParaRPr>
            </a:p>
            <a:p>
              <a:pPr marL="457200" lvl="0" indent="-301625" algn="l" rtl="0">
                <a:spcBef>
                  <a:spcPts val="750"/>
                </a:spcBef>
                <a:spcAft>
                  <a:spcPts val="0"/>
                </a:spcAft>
                <a:buClr>
                  <a:srgbClr val="F8FAFC"/>
                </a:buClr>
                <a:buSzPts val="1150"/>
                <a:buFont typeface="Arial"/>
                <a:buChar char="●"/>
              </a:pPr>
              <a:r>
                <a:rPr lang="en-GB" sz="1150" b="1" dirty="0">
                  <a:solidFill>
                    <a:srgbClr val="F8FAFC"/>
                  </a:solidFill>
                  <a:latin typeface="Arial"/>
                  <a:ea typeface="Arial"/>
                  <a:cs typeface="Arial"/>
                  <a:sym typeface="Arial"/>
                </a:rPr>
                <a:t>Metrics: RMSE, MAE, MAPE </a:t>
              </a:r>
              <a:r>
                <a:rPr lang="en-GB" sz="1150" b="0" dirty="0">
                  <a:solidFill>
                    <a:srgbClr val="94A3B8"/>
                  </a:solidFill>
                  <a:latin typeface="Arial"/>
                  <a:ea typeface="Arial"/>
                  <a:cs typeface="Arial"/>
                  <a:sym typeface="Arial"/>
                </a:rPr>
                <a:t>— calculated separately for stable months vs. shock months</a:t>
              </a:r>
              <a:endParaRPr sz="1150" b="1" dirty="0">
                <a:solidFill>
                  <a:srgbClr val="F8FAFC"/>
                </a:solidFill>
                <a:latin typeface="Arial"/>
                <a:ea typeface="Arial"/>
                <a:cs typeface="Arial"/>
                <a:sym typeface="Arial"/>
              </a:endParaRPr>
            </a:p>
            <a:p>
              <a:pPr marL="457200" lvl="0" indent="-301625" algn="l" rtl="0">
                <a:spcBef>
                  <a:spcPts val="750"/>
                </a:spcBef>
                <a:spcAft>
                  <a:spcPts val="750"/>
                </a:spcAft>
                <a:buClr>
                  <a:srgbClr val="F8FAFC"/>
                </a:buClr>
                <a:buSzPts val="1150"/>
                <a:buFont typeface="Arial"/>
                <a:buChar char="●"/>
              </a:pPr>
              <a:r>
                <a:rPr lang="en-GB" sz="1150" b="1" dirty="0">
                  <a:solidFill>
                    <a:srgbClr val="F8FAFC"/>
                  </a:solidFill>
                  <a:latin typeface="Arial"/>
                  <a:ea typeface="Arial"/>
                  <a:cs typeface="Arial"/>
                  <a:sym typeface="Arial"/>
                </a:rPr>
                <a:t>SHAP explainability </a:t>
              </a:r>
              <a:r>
                <a:rPr lang="en-GB" sz="1150" b="0" dirty="0">
                  <a:solidFill>
                    <a:srgbClr val="94A3B8"/>
                  </a:solidFill>
                  <a:latin typeface="Arial"/>
                  <a:ea typeface="Arial"/>
                  <a:cs typeface="Arial"/>
                  <a:sym typeface="Arial"/>
                </a:rPr>
                <a:t>— shows which features (exchange rate, search trends, shock flag) drive each prediction</a:t>
              </a:r>
              <a:endParaRPr sz="1150" b="1" dirty="0">
                <a:solidFill>
                  <a:srgbClr val="F8FAFC"/>
                </a:solidFill>
                <a:latin typeface="Arial"/>
                <a:ea typeface="Arial"/>
                <a:cs typeface="Arial"/>
                <a:sym typeface="Arial"/>
              </a:endParaRPr>
            </a:p>
          </p:txBody>
        </p:sp>
      </p:grpSp>
      <p:grpSp>
        <p:nvGrpSpPr>
          <p:cNvPr id="223" name="Google Shape;223;g3f830a837a6_0_792"/>
          <p:cNvGrpSpPr/>
          <p:nvPr/>
        </p:nvGrpSpPr>
        <p:grpSpPr>
          <a:xfrm>
            <a:off x="5334000" y="1095375"/>
            <a:ext cx="3238500" cy="3572025"/>
            <a:chOff x="0" y="0"/>
            <a:chExt cx="3238500" cy="3572025"/>
          </a:xfrm>
        </p:grpSpPr>
        <p:sp>
          <p:nvSpPr>
            <p:cNvPr id="224" name="Google Shape;224;g3f830a837a6_0_792"/>
            <p:cNvSpPr/>
            <p:nvPr/>
          </p:nvSpPr>
          <p:spPr>
            <a:xfrm>
              <a:off x="0" y="0"/>
              <a:ext cx="3238500" cy="3524400"/>
            </a:xfrm>
            <a:prstGeom prst="roundRect">
              <a:avLst>
                <a:gd name="adj" fmla="val 3529"/>
              </a:avLst>
            </a:prstGeom>
            <a:solidFill>
              <a:srgbClr val="111A30"/>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25" name="Google Shape;225;g3f830a837a6_0_792"/>
            <p:cNvPicPr preferRelativeResize="0"/>
            <p:nvPr/>
          </p:nvPicPr>
          <p:blipFill rotWithShape="1">
            <a:blip r:embed="rId4">
              <a:alphaModFix/>
            </a:blip>
            <a:srcRect/>
            <a:stretch/>
          </p:blipFill>
          <p:spPr>
            <a:xfrm>
              <a:off x="657225" y="1609725"/>
              <a:ext cx="1924200" cy="1924200"/>
            </a:xfrm>
            <a:prstGeom prst="rect">
              <a:avLst/>
            </a:prstGeom>
            <a:noFill/>
            <a:ln>
              <a:noFill/>
            </a:ln>
          </p:spPr>
        </p:pic>
        <p:sp>
          <p:nvSpPr>
            <p:cNvPr id="226" name="Google Shape;226;g3f830a837a6_0_792"/>
            <p:cNvSpPr/>
            <p:nvPr/>
          </p:nvSpPr>
          <p:spPr>
            <a:xfrm>
              <a:off x="857250" y="2571750"/>
              <a:ext cx="1524000" cy="0"/>
            </a:xfrm>
            <a:custGeom>
              <a:avLst/>
              <a:gdLst/>
              <a:ahLst/>
              <a:cxnLst/>
              <a:rect l="l" t="t" r="r" b="b"/>
              <a:pathLst>
                <a:path w="120000" h="120000" fill="none" extrusionOk="0">
                  <a:moveTo>
                    <a:pt x="0" y="0"/>
                  </a:moveTo>
                  <a:lnTo>
                    <a:pt x="120000" y="0"/>
                  </a:lnTo>
                </a:path>
              </a:pathLst>
            </a:custGeom>
            <a:solidFill>
              <a:srgbClr val="FFFFFF"/>
            </a:solidFill>
            <a:ln w="38100"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7" name="Google Shape;227;g3f830a837a6_0_792"/>
            <p:cNvSpPr/>
            <p:nvPr/>
          </p:nvSpPr>
          <p:spPr>
            <a:xfrm>
              <a:off x="1619250" y="1619250"/>
              <a:ext cx="0" cy="952500"/>
            </a:xfrm>
            <a:custGeom>
              <a:avLst/>
              <a:gdLst/>
              <a:ahLst/>
              <a:cxnLst/>
              <a:rect l="l" t="t" r="r" b="b"/>
              <a:pathLst>
                <a:path w="120000" h="120000" fill="none" extrusionOk="0">
                  <a:moveTo>
                    <a:pt x="0" y="0"/>
                  </a:moveTo>
                  <a:lnTo>
                    <a:pt x="0" y="120000"/>
                  </a:lnTo>
                </a:path>
              </a:pathLst>
            </a:custGeom>
            <a:solidFill>
              <a:srgbClr val="FFFFFF"/>
            </a:solidFill>
            <a:ln w="38100" cap="rnd" cmpd="sng">
              <a:solidFill>
                <a:srgbClr val="94A3B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8" name="Google Shape;228;g3f830a837a6_0_792"/>
            <p:cNvSpPr/>
            <p:nvPr/>
          </p:nvSpPr>
          <p:spPr>
            <a:xfrm>
              <a:off x="1543050" y="1524000"/>
              <a:ext cx="152400" cy="142800"/>
            </a:xfrm>
            <a:custGeom>
              <a:avLst/>
              <a:gdLst/>
              <a:ahLst/>
              <a:cxnLst/>
              <a:rect l="l" t="t" r="r" b="b"/>
              <a:pathLst>
                <a:path w="120000" h="120000" extrusionOk="0">
                  <a:moveTo>
                    <a:pt x="60000" y="0"/>
                  </a:moveTo>
                  <a:lnTo>
                    <a:pt x="0" y="120000"/>
                  </a:lnTo>
                  <a:lnTo>
                    <a:pt x="120000" y="120000"/>
                  </a:lnTo>
                  <a:close/>
                </a:path>
              </a:pathLst>
            </a:custGeom>
            <a:solidFill>
              <a:srgbClr val="94A3B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9" name="Google Shape;229;g3f830a837a6_0_792"/>
            <p:cNvSpPr/>
            <p:nvPr/>
          </p:nvSpPr>
          <p:spPr>
            <a:xfrm>
              <a:off x="857250" y="2571750"/>
              <a:ext cx="0" cy="381000"/>
            </a:xfrm>
            <a:custGeom>
              <a:avLst/>
              <a:gdLst/>
              <a:ahLst/>
              <a:cxnLst/>
              <a:rect l="l" t="t" r="r" b="b"/>
              <a:pathLst>
                <a:path w="120000" h="120000" fill="none" extrusionOk="0">
                  <a:moveTo>
                    <a:pt x="0" y="0"/>
                  </a:moveTo>
                  <a:lnTo>
                    <a:pt x="0" y="120000"/>
                  </a:lnTo>
                </a:path>
              </a:pathLst>
            </a:custGeom>
            <a:solidFill>
              <a:srgbClr val="FFFFFF"/>
            </a:solidFill>
            <a:ln w="19050" cap="flat" cmpd="sng">
              <a:solidFill>
                <a:srgbClr val="47556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0" name="Google Shape;230;g3f830a837a6_0_792"/>
            <p:cNvSpPr/>
            <p:nvPr/>
          </p:nvSpPr>
          <p:spPr>
            <a:xfrm>
              <a:off x="571500" y="2952750"/>
              <a:ext cx="571500" cy="0"/>
            </a:xfrm>
            <a:custGeom>
              <a:avLst/>
              <a:gdLst/>
              <a:ahLst/>
              <a:cxnLst/>
              <a:rect l="l" t="t" r="r" b="b"/>
              <a:pathLst>
                <a:path w="120000" h="120000" fill="none" extrusionOk="0">
                  <a:moveTo>
                    <a:pt x="0" y="0"/>
                  </a:moveTo>
                  <a:lnTo>
                    <a:pt x="120000" y="0"/>
                  </a:lnTo>
                </a:path>
              </a:pathLst>
            </a:custGeom>
            <a:solidFill>
              <a:srgbClr val="FFFFFF"/>
            </a:solidFill>
            <a:ln w="28575" cap="flat" cmpd="sng">
              <a:solidFill>
                <a:srgbClr val="47556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g3f830a837a6_0_792"/>
            <p:cNvSpPr/>
            <p:nvPr/>
          </p:nvSpPr>
          <p:spPr>
            <a:xfrm>
              <a:off x="2381250" y="2286000"/>
              <a:ext cx="0" cy="285900"/>
            </a:xfrm>
            <a:custGeom>
              <a:avLst/>
              <a:gdLst/>
              <a:ahLst/>
              <a:cxnLst/>
              <a:rect l="l" t="t" r="r" b="b"/>
              <a:pathLst>
                <a:path w="120000" h="120000" fill="none" extrusionOk="0">
                  <a:moveTo>
                    <a:pt x="0" y="120000"/>
                  </a:moveTo>
                  <a:lnTo>
                    <a:pt x="0" y="0"/>
                  </a:lnTo>
                </a:path>
              </a:pathLst>
            </a:custGeom>
            <a:solidFill>
              <a:srgbClr val="FFFFFF"/>
            </a:solidFill>
            <a:ln w="19050" cap="flat" cmpd="sng">
              <a:solidFill>
                <a:srgbClr val="0D948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2" name="Google Shape;232;g3f830a837a6_0_792"/>
            <p:cNvSpPr/>
            <p:nvPr/>
          </p:nvSpPr>
          <p:spPr>
            <a:xfrm>
              <a:off x="2095500" y="2286000"/>
              <a:ext cx="571500" cy="0"/>
            </a:xfrm>
            <a:custGeom>
              <a:avLst/>
              <a:gdLst/>
              <a:ahLst/>
              <a:cxnLst/>
              <a:rect l="l" t="t" r="r" b="b"/>
              <a:pathLst>
                <a:path w="120000" h="120000" fill="none" extrusionOk="0">
                  <a:moveTo>
                    <a:pt x="0" y="0"/>
                  </a:moveTo>
                  <a:lnTo>
                    <a:pt x="120000" y="0"/>
                  </a:lnTo>
                </a:path>
              </a:pathLst>
            </a:custGeom>
            <a:solidFill>
              <a:srgbClr val="FFFFFF"/>
            </a:solidFill>
            <a:ln w="28575" cap="flat" cmpd="sng">
              <a:solidFill>
                <a:srgbClr val="0D9488"/>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3" name="Google Shape;233;g3f830a837a6_0_792"/>
            <p:cNvSpPr/>
            <p:nvPr/>
          </p:nvSpPr>
          <p:spPr>
            <a:xfrm>
              <a:off x="666750" y="3000375"/>
              <a:ext cx="381000" cy="238200"/>
            </a:xfrm>
            <a:prstGeom prst="roundRect">
              <a:avLst>
                <a:gd name="adj" fmla="val 16000"/>
              </a:avLst>
            </a:prstGeom>
            <a:solidFill>
              <a:srgbClr val="64748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4" name="Google Shape;234;g3f830a837a6_0_792"/>
            <p:cNvSpPr txBox="1"/>
            <p:nvPr/>
          </p:nvSpPr>
          <p:spPr>
            <a:xfrm>
              <a:off x="476250" y="3286125"/>
              <a:ext cx="762000" cy="2859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GB" sz="1050" b="1">
                  <a:solidFill>
                    <a:srgbClr val="94A3B8"/>
                  </a:solidFill>
                  <a:latin typeface="Arial"/>
                  <a:ea typeface="Arial"/>
                  <a:cs typeface="Arial"/>
                  <a:sym typeface="Arial"/>
                </a:rPr>
                <a:t>SARIMA</a:t>
              </a:r>
              <a:endParaRPr sz="1050" b="1">
                <a:solidFill>
                  <a:srgbClr val="94A3B8"/>
                </a:solidFill>
                <a:latin typeface="Arial"/>
                <a:ea typeface="Arial"/>
                <a:cs typeface="Arial"/>
                <a:sym typeface="Arial"/>
              </a:endParaRPr>
            </a:p>
          </p:txBody>
        </p:sp>
        <p:sp>
          <p:nvSpPr>
            <p:cNvPr id="235" name="Google Shape;235;g3f830a837a6_0_792"/>
            <p:cNvSpPr/>
            <p:nvPr/>
          </p:nvSpPr>
          <p:spPr>
            <a:xfrm>
              <a:off x="2190750" y="1905000"/>
              <a:ext cx="381000" cy="333300"/>
            </a:xfrm>
            <a:prstGeom prst="roundRect">
              <a:avLst>
                <a:gd name="adj" fmla="val 11428"/>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6" name="Google Shape;236;g3f830a837a6_0_792"/>
            <p:cNvSpPr/>
            <p:nvPr/>
          </p:nvSpPr>
          <p:spPr>
            <a:xfrm>
              <a:off x="2305050" y="2019300"/>
              <a:ext cx="152400" cy="104700"/>
            </a:xfrm>
            <a:custGeom>
              <a:avLst/>
              <a:gdLst/>
              <a:ahLst/>
              <a:cxnLst/>
              <a:rect l="l" t="t" r="r" b="b"/>
              <a:pathLst>
                <a:path w="120000" h="120000" extrusionOk="0">
                  <a:moveTo>
                    <a:pt x="0" y="65455"/>
                  </a:moveTo>
                  <a:lnTo>
                    <a:pt x="37500" y="120000"/>
                  </a:lnTo>
                  <a:lnTo>
                    <a:pt x="120000" y="0"/>
                  </a:lnTo>
                </a:path>
              </a:pathLst>
            </a:custGeom>
            <a:solidFill>
              <a:srgbClr val="000000">
                <a:alpha val="0"/>
              </a:srgbClr>
            </a:solidFill>
            <a:ln w="28575" cap="rnd"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g3f830a837a6_0_792"/>
            <p:cNvSpPr txBox="1"/>
            <p:nvPr/>
          </p:nvSpPr>
          <p:spPr>
            <a:xfrm>
              <a:off x="2000250" y="2333625"/>
              <a:ext cx="762000" cy="2859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GB" sz="1050" b="1">
                  <a:solidFill>
                    <a:srgbClr val="2DD4BF"/>
                  </a:solidFill>
                  <a:latin typeface="Arial"/>
                  <a:ea typeface="Arial"/>
                  <a:cs typeface="Arial"/>
                  <a:sym typeface="Arial"/>
                </a:rPr>
                <a:t>Hybrid</a:t>
              </a:r>
              <a:endParaRPr sz="1050" b="1">
                <a:solidFill>
                  <a:srgbClr val="2DD4BF"/>
                </a:solidFill>
                <a:latin typeface="Arial"/>
                <a:ea typeface="Arial"/>
                <a:cs typeface="Arial"/>
                <a:sym typeface="Arial"/>
              </a:endParaRPr>
            </a:p>
          </p:txBody>
        </p:sp>
        <p:grpSp>
          <p:nvGrpSpPr>
            <p:cNvPr id="238" name="Google Shape;238;g3f830a837a6_0_792"/>
            <p:cNvGrpSpPr/>
            <p:nvPr/>
          </p:nvGrpSpPr>
          <p:grpSpPr>
            <a:xfrm>
              <a:off x="1333500" y="1047750"/>
              <a:ext cx="571500" cy="476400"/>
              <a:chOff x="0" y="0"/>
              <a:chExt cx="571500" cy="476400"/>
            </a:xfrm>
          </p:grpSpPr>
          <p:sp>
            <p:nvSpPr>
              <p:cNvPr id="239" name="Google Shape;239;g3f830a837a6_0_792"/>
              <p:cNvSpPr/>
              <p:nvPr/>
            </p:nvSpPr>
            <p:spPr>
              <a:xfrm>
                <a:off x="0" y="0"/>
                <a:ext cx="571500" cy="476400"/>
              </a:xfrm>
              <a:prstGeom prst="roundRect">
                <a:avLst>
                  <a:gd name="adj" fmla="val 12000"/>
                </a:avLst>
              </a:prstGeom>
              <a:solidFill>
                <a:srgbClr val="E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0" name="Google Shape;240;g3f830a837a6_0_792"/>
              <p:cNvSpPr/>
              <p:nvPr/>
            </p:nvSpPr>
            <p:spPr>
              <a:xfrm>
                <a:off x="114300" y="304800"/>
                <a:ext cx="76200" cy="95400"/>
              </a:xfrm>
              <a:prstGeom prst="rect">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1" name="Google Shape;241;g3f830a837a6_0_792"/>
              <p:cNvSpPr/>
              <p:nvPr/>
            </p:nvSpPr>
            <p:spPr>
              <a:xfrm>
                <a:off x="228600" y="190500"/>
                <a:ext cx="76200" cy="209700"/>
              </a:xfrm>
              <a:prstGeom prst="rect">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2" name="Google Shape;242;g3f830a837a6_0_792"/>
              <p:cNvSpPr/>
              <p:nvPr/>
            </p:nvSpPr>
            <p:spPr>
              <a:xfrm>
                <a:off x="342900" y="114300"/>
                <a:ext cx="76200" cy="285900"/>
              </a:xfrm>
              <a:prstGeom prst="rect">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3" name="Google Shape;243;g3f830a837a6_0_792"/>
              <p:cNvSpPr/>
              <p:nvPr/>
            </p:nvSpPr>
            <p:spPr>
              <a:xfrm>
                <a:off x="409575" y="66675"/>
                <a:ext cx="95400" cy="95400"/>
              </a:xfrm>
              <a:prstGeom prst="ellipse">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4" name="Google Shape;244;g3f830a837a6_0_792"/>
              <p:cNvSpPr/>
              <p:nvPr/>
            </p:nvSpPr>
            <p:spPr>
              <a:xfrm>
                <a:off x="438150" y="95250"/>
                <a:ext cx="47700" cy="38100"/>
              </a:xfrm>
              <a:custGeom>
                <a:avLst/>
                <a:gdLst/>
                <a:ahLst/>
                <a:cxnLst/>
                <a:rect l="l" t="t" r="r" b="b"/>
                <a:pathLst>
                  <a:path w="120000" h="120000" extrusionOk="0">
                    <a:moveTo>
                      <a:pt x="0" y="60000"/>
                    </a:moveTo>
                    <a:lnTo>
                      <a:pt x="48000" y="120000"/>
                    </a:lnTo>
                    <a:lnTo>
                      <a:pt x="120000" y="0"/>
                    </a:lnTo>
                  </a:path>
                </a:pathLst>
              </a:custGeom>
              <a:solidFill>
                <a:srgbClr val="000000">
                  <a:alpha val="0"/>
                </a:srgbClr>
              </a:solidFill>
              <a:ln w="1430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245" name="Google Shape;245;g3f830a837a6_0_792"/>
            <p:cNvSpPr txBox="1"/>
            <p:nvPr/>
          </p:nvSpPr>
          <p:spPr>
            <a:xfrm>
              <a:off x="381000" y="428625"/>
              <a:ext cx="2476500" cy="381000"/>
            </a:xfrm>
            <a:prstGeom prst="rect">
              <a:avLst/>
            </a:prstGeom>
            <a:solidFill>
              <a:srgbClr val="000000">
                <a:alpha val="0"/>
              </a:srgbClr>
            </a:solidFill>
            <a:ln>
              <a:noFill/>
            </a:ln>
          </p:spPr>
          <p:txBody>
            <a:bodyPr spcFirstLastPara="1" wrap="square" lIns="0" tIns="0" rIns="0" bIns="0" anchor="t" anchorCtr="0">
              <a:noAutofit/>
            </a:bodyPr>
            <a:lstStyle/>
            <a:p>
              <a:pPr marL="0" lvl="0" indent="0" algn="ctr" rtl="0">
                <a:spcBef>
                  <a:spcPts val="0"/>
                </a:spcBef>
                <a:spcAft>
                  <a:spcPts val="0"/>
                </a:spcAft>
                <a:buNone/>
              </a:pPr>
              <a:r>
                <a:rPr lang="en-GB" sz="1200" b="1">
                  <a:solidFill>
                    <a:srgbClr val="38BDF8"/>
                  </a:solidFill>
                  <a:latin typeface="Arial"/>
                  <a:ea typeface="Arial"/>
                  <a:cs typeface="Arial"/>
                  <a:sym typeface="Arial"/>
                </a:rPr>
                <a:t>STATISTICAL COMPARISON</a:t>
              </a:r>
              <a:endParaRPr sz="1200" b="1">
                <a:solidFill>
                  <a:srgbClr val="38BDF8"/>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9"/>
        <p:cNvGrpSpPr/>
        <p:nvPr/>
      </p:nvGrpSpPr>
      <p:grpSpPr>
        <a:xfrm>
          <a:off x="0" y="0"/>
          <a:ext cx="0" cy="0"/>
          <a:chOff x="0" y="0"/>
          <a:chExt cx="0" cy="0"/>
        </a:xfrm>
      </p:grpSpPr>
      <p:grpSp>
        <p:nvGrpSpPr>
          <p:cNvPr id="250" name="Google Shape;250;p8"/>
          <p:cNvGrpSpPr/>
          <p:nvPr/>
        </p:nvGrpSpPr>
        <p:grpSpPr>
          <a:xfrm>
            <a:off x="571500" y="428625"/>
            <a:ext cx="8001000" cy="476400"/>
            <a:chOff x="0" y="0"/>
            <a:chExt cx="8001000" cy="476400"/>
          </a:xfrm>
        </p:grpSpPr>
        <p:sp>
          <p:nvSpPr>
            <p:cNvPr id="251" name="Google Shape;251;p8"/>
            <p:cNvSpPr/>
            <p:nvPr/>
          </p:nvSpPr>
          <p:spPr>
            <a:xfrm>
              <a:off x="0" y="0"/>
              <a:ext cx="8001000" cy="476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2" name="Google Shape;252;p8"/>
            <p:cNvSpPr txBox="1"/>
            <p:nvPr/>
          </p:nvSpPr>
          <p:spPr>
            <a:xfrm>
              <a:off x="0" y="0"/>
              <a:ext cx="80010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600" b="1">
                  <a:solidFill>
                    <a:srgbClr val="0F172A"/>
                  </a:solidFill>
                  <a:latin typeface="Arial"/>
                  <a:ea typeface="Arial"/>
                  <a:cs typeface="Arial"/>
                  <a:sym typeface="Arial"/>
                </a:rPr>
                <a:t>Expected Outcomes</a:t>
              </a:r>
              <a:endParaRPr sz="2600" b="1">
                <a:solidFill>
                  <a:srgbClr val="0F172A"/>
                </a:solidFill>
                <a:latin typeface="Arial"/>
                <a:ea typeface="Arial"/>
                <a:cs typeface="Arial"/>
                <a:sym typeface="Arial"/>
              </a:endParaRPr>
            </a:p>
          </p:txBody>
        </p:sp>
      </p:grpSp>
      <p:grpSp>
        <p:nvGrpSpPr>
          <p:cNvPr id="253" name="Google Shape;253;p8"/>
          <p:cNvGrpSpPr/>
          <p:nvPr/>
        </p:nvGrpSpPr>
        <p:grpSpPr>
          <a:xfrm>
            <a:off x="571500" y="1238250"/>
            <a:ext cx="2533800" cy="1524000"/>
            <a:chOff x="0" y="0"/>
            <a:chExt cx="2533800" cy="1524000"/>
          </a:xfrm>
        </p:grpSpPr>
        <p:sp>
          <p:nvSpPr>
            <p:cNvPr id="254" name="Google Shape;254;p8"/>
            <p:cNvSpPr/>
            <p:nvPr/>
          </p:nvSpPr>
          <p:spPr>
            <a:xfrm>
              <a:off x="0" y="0"/>
              <a:ext cx="2533800" cy="1524000"/>
            </a:xfrm>
            <a:prstGeom prst="roundRect">
              <a:avLst>
                <a:gd name="adj" fmla="val 75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p8"/>
            <p:cNvSpPr/>
            <p:nvPr/>
          </p:nvSpPr>
          <p:spPr>
            <a:xfrm>
              <a:off x="0" y="0"/>
              <a:ext cx="2533800" cy="573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6" name="Google Shape;256;p8"/>
            <p:cNvSpPr txBox="1"/>
            <p:nvPr/>
          </p:nvSpPr>
          <p:spPr>
            <a:xfrm>
              <a:off x="190500" y="190500"/>
              <a:ext cx="21528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0284C7"/>
                  </a:solidFill>
                  <a:latin typeface="Arial"/>
                  <a:ea typeface="Arial"/>
                  <a:cs typeface="Arial"/>
                  <a:sym typeface="Arial"/>
                </a:rPr>
                <a:t>01. Tourism Dataset</a:t>
              </a:r>
              <a:endParaRPr sz="1000" b="1">
                <a:solidFill>
                  <a:srgbClr val="0284C7"/>
                </a:solidFill>
                <a:latin typeface="Arial"/>
                <a:ea typeface="Arial"/>
                <a:cs typeface="Arial"/>
                <a:sym typeface="Arial"/>
              </a:endParaRPr>
            </a:p>
            <a:p>
              <a:pPr marL="0" lvl="0" indent="0" algn="l" rtl="0">
                <a:spcBef>
                  <a:spcPts val="600"/>
                </a:spcBef>
                <a:spcAft>
                  <a:spcPts val="0"/>
                </a:spcAft>
                <a:buNone/>
              </a:pPr>
              <a:r>
                <a:rPr lang="en-GB" sz="1150" b="0">
                  <a:solidFill>
                    <a:srgbClr val="475569"/>
                  </a:solidFill>
                  <a:latin typeface="Arial"/>
                  <a:ea typeface="Arial"/>
                  <a:cs typeface="Arial"/>
                  <a:sym typeface="Arial"/>
                </a:rPr>
                <a:t>A cleaned, reusable Sri Lankan tourism dataset with shock annotations.</a:t>
              </a:r>
              <a:endParaRPr sz="1150" b="0">
                <a:solidFill>
                  <a:srgbClr val="475569"/>
                </a:solidFill>
                <a:latin typeface="Arial"/>
                <a:ea typeface="Arial"/>
                <a:cs typeface="Arial"/>
                <a:sym typeface="Arial"/>
              </a:endParaRPr>
            </a:p>
          </p:txBody>
        </p:sp>
      </p:grpSp>
      <p:grpSp>
        <p:nvGrpSpPr>
          <p:cNvPr id="257" name="Google Shape;257;p8"/>
          <p:cNvGrpSpPr/>
          <p:nvPr/>
        </p:nvGrpSpPr>
        <p:grpSpPr>
          <a:xfrm>
            <a:off x="3305175" y="1238250"/>
            <a:ext cx="2533800" cy="1524000"/>
            <a:chOff x="0" y="0"/>
            <a:chExt cx="2533800" cy="1524000"/>
          </a:xfrm>
        </p:grpSpPr>
        <p:sp>
          <p:nvSpPr>
            <p:cNvPr id="258" name="Google Shape;258;p8"/>
            <p:cNvSpPr/>
            <p:nvPr/>
          </p:nvSpPr>
          <p:spPr>
            <a:xfrm>
              <a:off x="0" y="0"/>
              <a:ext cx="2533800" cy="1524000"/>
            </a:xfrm>
            <a:prstGeom prst="roundRect">
              <a:avLst>
                <a:gd name="adj" fmla="val 75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9" name="Google Shape;259;p8"/>
            <p:cNvSpPr/>
            <p:nvPr/>
          </p:nvSpPr>
          <p:spPr>
            <a:xfrm>
              <a:off x="0" y="0"/>
              <a:ext cx="2533800" cy="57300"/>
            </a:xfrm>
            <a:prstGeom prst="roundRect">
              <a:avLst>
                <a:gd name="adj" fmla="val 50000"/>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0" name="Google Shape;260;p8"/>
            <p:cNvSpPr txBox="1"/>
            <p:nvPr/>
          </p:nvSpPr>
          <p:spPr>
            <a:xfrm>
              <a:off x="190500" y="190500"/>
              <a:ext cx="21528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0D9488"/>
                  </a:solidFill>
                  <a:latin typeface="Arial"/>
                  <a:ea typeface="Arial"/>
                  <a:cs typeface="Arial"/>
                  <a:sym typeface="Arial"/>
                </a:rPr>
                <a:t>02. Baseline Models</a:t>
              </a:r>
              <a:endParaRPr sz="1000" b="1">
                <a:solidFill>
                  <a:srgbClr val="0D9488"/>
                </a:solidFill>
                <a:latin typeface="Arial"/>
                <a:ea typeface="Arial"/>
                <a:cs typeface="Arial"/>
                <a:sym typeface="Arial"/>
              </a:endParaRPr>
            </a:p>
            <a:p>
              <a:pPr marL="0" lvl="0" indent="0" algn="l" rtl="0">
                <a:spcBef>
                  <a:spcPts val="600"/>
                </a:spcBef>
                <a:spcAft>
                  <a:spcPts val="0"/>
                </a:spcAft>
                <a:buNone/>
              </a:pPr>
              <a:r>
                <a:rPr lang="en-GB" sz="1150" b="0">
                  <a:solidFill>
                    <a:srgbClr val="475569"/>
                  </a:solidFill>
                  <a:latin typeface="Arial"/>
                  <a:ea typeface="Arial"/>
                  <a:cs typeface="Arial"/>
                  <a:sym typeface="Arial"/>
                </a:rPr>
                <a:t>Working SARIMA, LSTM, and XGBoost baseline models.</a:t>
              </a:r>
              <a:endParaRPr sz="1150" b="0">
                <a:solidFill>
                  <a:srgbClr val="475569"/>
                </a:solidFill>
                <a:latin typeface="Arial"/>
                <a:ea typeface="Arial"/>
                <a:cs typeface="Arial"/>
                <a:sym typeface="Arial"/>
              </a:endParaRPr>
            </a:p>
          </p:txBody>
        </p:sp>
      </p:grpSp>
      <p:grpSp>
        <p:nvGrpSpPr>
          <p:cNvPr id="261" name="Google Shape;261;p8"/>
          <p:cNvGrpSpPr/>
          <p:nvPr/>
        </p:nvGrpSpPr>
        <p:grpSpPr>
          <a:xfrm>
            <a:off x="6038850" y="1238250"/>
            <a:ext cx="2533800" cy="1524000"/>
            <a:chOff x="0" y="0"/>
            <a:chExt cx="2533800" cy="1524000"/>
          </a:xfrm>
        </p:grpSpPr>
        <p:sp>
          <p:nvSpPr>
            <p:cNvPr id="262" name="Google Shape;262;p8"/>
            <p:cNvSpPr/>
            <p:nvPr/>
          </p:nvSpPr>
          <p:spPr>
            <a:xfrm>
              <a:off x="0" y="0"/>
              <a:ext cx="2533800" cy="1524000"/>
            </a:xfrm>
            <a:prstGeom prst="roundRect">
              <a:avLst>
                <a:gd name="adj" fmla="val 75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 name="Google Shape;263;p8"/>
            <p:cNvSpPr/>
            <p:nvPr/>
          </p:nvSpPr>
          <p:spPr>
            <a:xfrm>
              <a:off x="0" y="0"/>
              <a:ext cx="2533800" cy="57300"/>
            </a:xfrm>
            <a:prstGeom prst="roundRect">
              <a:avLst>
                <a:gd name="adj" fmla="val 50000"/>
              </a:avLst>
            </a:prstGeom>
            <a:solidFill>
              <a:srgbClr val="4F46E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4" name="Google Shape;264;p8"/>
            <p:cNvSpPr txBox="1"/>
            <p:nvPr/>
          </p:nvSpPr>
          <p:spPr>
            <a:xfrm>
              <a:off x="190500" y="190500"/>
              <a:ext cx="21528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4F46E5"/>
                  </a:solidFill>
                  <a:latin typeface="Arial"/>
                  <a:ea typeface="Arial"/>
                  <a:cs typeface="Arial"/>
                  <a:sym typeface="Arial"/>
                </a:rPr>
                <a:t>03. Forecasting System</a:t>
              </a:r>
              <a:endParaRPr sz="1000" b="1">
                <a:solidFill>
                  <a:srgbClr val="4F46E5"/>
                </a:solidFill>
                <a:latin typeface="Arial"/>
                <a:ea typeface="Arial"/>
                <a:cs typeface="Arial"/>
                <a:sym typeface="Arial"/>
              </a:endParaRPr>
            </a:p>
            <a:p>
              <a:pPr marL="0" lvl="0" indent="0" algn="l" rtl="0">
                <a:spcBef>
                  <a:spcPts val="600"/>
                </a:spcBef>
                <a:spcAft>
                  <a:spcPts val="0"/>
                </a:spcAft>
                <a:buNone/>
              </a:pPr>
              <a:r>
                <a:rPr lang="en-GB" sz="1150" b="0">
                  <a:solidFill>
                    <a:srgbClr val="475569"/>
                  </a:solidFill>
                  <a:latin typeface="Arial"/>
                  <a:ea typeface="Arial"/>
                  <a:cs typeface="Arial"/>
                  <a:sym typeface="Arial"/>
                </a:rPr>
                <a:t>A functioning hybrid LSTM–XGBoost forecasting system.</a:t>
              </a:r>
              <a:endParaRPr sz="1150" b="0">
                <a:solidFill>
                  <a:srgbClr val="475569"/>
                </a:solidFill>
                <a:latin typeface="Arial"/>
                <a:ea typeface="Arial"/>
                <a:cs typeface="Arial"/>
                <a:sym typeface="Arial"/>
              </a:endParaRPr>
            </a:p>
          </p:txBody>
        </p:sp>
      </p:grpSp>
      <p:grpSp>
        <p:nvGrpSpPr>
          <p:cNvPr id="265" name="Google Shape;265;p8"/>
          <p:cNvGrpSpPr/>
          <p:nvPr/>
        </p:nvGrpSpPr>
        <p:grpSpPr>
          <a:xfrm>
            <a:off x="1943100" y="2952750"/>
            <a:ext cx="2533800" cy="1524000"/>
            <a:chOff x="0" y="0"/>
            <a:chExt cx="2533800" cy="1524000"/>
          </a:xfrm>
        </p:grpSpPr>
        <p:sp>
          <p:nvSpPr>
            <p:cNvPr id="266" name="Google Shape;266;p8"/>
            <p:cNvSpPr/>
            <p:nvPr/>
          </p:nvSpPr>
          <p:spPr>
            <a:xfrm>
              <a:off x="0" y="0"/>
              <a:ext cx="2533800" cy="1524000"/>
            </a:xfrm>
            <a:prstGeom prst="roundRect">
              <a:avLst>
                <a:gd name="adj" fmla="val 75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7" name="Google Shape;267;p8"/>
            <p:cNvSpPr/>
            <p:nvPr/>
          </p:nvSpPr>
          <p:spPr>
            <a:xfrm>
              <a:off x="0" y="0"/>
              <a:ext cx="2533800" cy="57300"/>
            </a:xfrm>
            <a:prstGeom prst="roundRect">
              <a:avLst>
                <a:gd name="adj" fmla="val 50000"/>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8" name="Google Shape;268;p8"/>
            <p:cNvSpPr txBox="1"/>
            <p:nvPr/>
          </p:nvSpPr>
          <p:spPr>
            <a:xfrm>
              <a:off x="190500" y="190500"/>
              <a:ext cx="21528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0284C7"/>
                  </a:solidFill>
                  <a:latin typeface="Arial"/>
                  <a:ea typeface="Arial"/>
                  <a:cs typeface="Arial"/>
                  <a:sym typeface="Arial"/>
                </a:rPr>
                <a:t>04. Empirical Evidence</a:t>
              </a:r>
              <a:endParaRPr sz="1000" b="1">
                <a:solidFill>
                  <a:srgbClr val="0284C7"/>
                </a:solidFill>
                <a:latin typeface="Arial"/>
                <a:ea typeface="Arial"/>
                <a:cs typeface="Arial"/>
                <a:sym typeface="Arial"/>
              </a:endParaRPr>
            </a:p>
            <a:p>
              <a:pPr marL="0" lvl="0" indent="0" algn="l" rtl="0">
                <a:spcBef>
                  <a:spcPts val="600"/>
                </a:spcBef>
                <a:spcAft>
                  <a:spcPts val="0"/>
                </a:spcAft>
                <a:buNone/>
              </a:pPr>
              <a:r>
                <a:rPr lang="en-GB" sz="1100" b="0">
                  <a:solidFill>
                    <a:srgbClr val="475569"/>
                  </a:solidFill>
                  <a:latin typeface="Arial"/>
                  <a:ea typeface="Arial"/>
                  <a:cs typeface="Arial"/>
                  <a:sym typeface="Arial"/>
                </a:rPr>
                <a:t>Statistically-tested evidence on whether hybrids outperform SARIMA — overall and during shocks.</a:t>
              </a:r>
              <a:endParaRPr sz="1100" b="0">
                <a:solidFill>
                  <a:srgbClr val="475569"/>
                </a:solidFill>
                <a:latin typeface="Arial"/>
                <a:ea typeface="Arial"/>
                <a:cs typeface="Arial"/>
                <a:sym typeface="Arial"/>
              </a:endParaRPr>
            </a:p>
          </p:txBody>
        </p:sp>
      </p:grpSp>
      <p:grpSp>
        <p:nvGrpSpPr>
          <p:cNvPr id="269" name="Google Shape;269;p8"/>
          <p:cNvGrpSpPr/>
          <p:nvPr/>
        </p:nvGrpSpPr>
        <p:grpSpPr>
          <a:xfrm>
            <a:off x="4667250" y="2952750"/>
            <a:ext cx="2533800" cy="1524000"/>
            <a:chOff x="0" y="0"/>
            <a:chExt cx="2533800" cy="1524000"/>
          </a:xfrm>
        </p:grpSpPr>
        <p:sp>
          <p:nvSpPr>
            <p:cNvPr id="270" name="Google Shape;270;p8"/>
            <p:cNvSpPr/>
            <p:nvPr/>
          </p:nvSpPr>
          <p:spPr>
            <a:xfrm>
              <a:off x="0" y="0"/>
              <a:ext cx="2533800" cy="1524000"/>
            </a:xfrm>
            <a:prstGeom prst="roundRect">
              <a:avLst>
                <a:gd name="adj" fmla="val 750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1" name="Google Shape;271;p8"/>
            <p:cNvSpPr/>
            <p:nvPr/>
          </p:nvSpPr>
          <p:spPr>
            <a:xfrm>
              <a:off x="0" y="0"/>
              <a:ext cx="2533800" cy="57300"/>
            </a:xfrm>
            <a:prstGeom prst="roundRect">
              <a:avLst>
                <a:gd name="adj" fmla="val 50000"/>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2" name="Google Shape;272;p8"/>
            <p:cNvSpPr txBox="1"/>
            <p:nvPr/>
          </p:nvSpPr>
          <p:spPr>
            <a:xfrm>
              <a:off x="190500" y="190500"/>
              <a:ext cx="2152800" cy="1143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0D9488"/>
                  </a:solidFill>
                  <a:latin typeface="Arial"/>
                  <a:ea typeface="Arial"/>
                  <a:cs typeface="Arial"/>
                  <a:sym typeface="Arial"/>
                </a:rPr>
                <a:t>05. Practical Value</a:t>
              </a:r>
              <a:endParaRPr sz="1000" b="1">
                <a:solidFill>
                  <a:srgbClr val="0D9488"/>
                </a:solidFill>
                <a:latin typeface="Arial"/>
                <a:ea typeface="Arial"/>
                <a:cs typeface="Arial"/>
                <a:sym typeface="Arial"/>
              </a:endParaRPr>
            </a:p>
            <a:p>
              <a:pPr marL="0" lvl="0" indent="0" algn="l" rtl="0">
                <a:spcBef>
                  <a:spcPts val="600"/>
                </a:spcBef>
                <a:spcAft>
                  <a:spcPts val="0"/>
                </a:spcAft>
                <a:buNone/>
              </a:pPr>
              <a:r>
                <a:rPr lang="en-GB" sz="1100" b="0">
                  <a:solidFill>
                    <a:srgbClr val="475569"/>
                  </a:solidFill>
                  <a:latin typeface="Arial"/>
                  <a:ea typeface="Arial"/>
                  <a:cs typeface="Arial"/>
                  <a:sym typeface="Arial"/>
                </a:rPr>
                <a:t>Direct practical value to SLTDA, the Ministry of Tourism, and hospitality operators.</a:t>
              </a:r>
              <a:endParaRPr sz="1100" b="0">
                <a:solidFill>
                  <a:srgbClr val="475569"/>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6"/>
        <p:cNvGrpSpPr/>
        <p:nvPr/>
      </p:nvGrpSpPr>
      <p:grpSpPr>
        <a:xfrm>
          <a:off x="0" y="0"/>
          <a:ext cx="0" cy="0"/>
          <a:chOff x="0" y="0"/>
          <a:chExt cx="0" cy="0"/>
        </a:xfrm>
      </p:grpSpPr>
      <p:sp>
        <p:nvSpPr>
          <p:cNvPr id="277" name="Google Shape;277;p9"/>
          <p:cNvSpPr txBox="1"/>
          <p:nvPr/>
        </p:nvSpPr>
        <p:spPr>
          <a:xfrm>
            <a:off x="571500" y="381000"/>
            <a:ext cx="8001000" cy="476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GB" sz="2600" b="1">
                <a:solidFill>
                  <a:srgbClr val="FFFFFF"/>
                </a:solidFill>
                <a:latin typeface="Arial"/>
                <a:ea typeface="Arial"/>
                <a:cs typeface="Arial"/>
                <a:sym typeface="Arial"/>
              </a:rPr>
              <a:t>Project Timeline</a:t>
            </a:r>
            <a:endParaRPr sz="2600" b="1">
              <a:solidFill>
                <a:srgbClr val="FFFFFF"/>
              </a:solidFill>
              <a:latin typeface="Arial"/>
              <a:ea typeface="Arial"/>
              <a:cs typeface="Arial"/>
              <a:sym typeface="Arial"/>
            </a:endParaRPr>
          </a:p>
        </p:txBody>
      </p:sp>
      <p:sp>
        <p:nvSpPr>
          <p:cNvPr id="278" name="Google Shape;278;p9"/>
          <p:cNvSpPr/>
          <p:nvPr/>
        </p:nvSpPr>
        <p:spPr>
          <a:xfrm>
            <a:off x="3095625" y="1047750"/>
            <a:ext cx="5572200" cy="3524400"/>
          </a:xfrm>
          <a:prstGeom prst="roundRect">
            <a:avLst>
              <a:gd name="adj" fmla="val 3243"/>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279" name="Google Shape;279;p9"/>
          <p:cNvPicPr preferRelativeResize="0"/>
          <p:nvPr/>
        </p:nvPicPr>
        <p:blipFill rotWithShape="1">
          <a:blip r:embed="rId4">
            <a:alphaModFix/>
          </a:blip>
          <a:srcRect/>
          <a:stretch/>
        </p:blipFill>
        <p:spPr>
          <a:xfrm>
            <a:off x="514350" y="1333500"/>
            <a:ext cx="19200" cy="2857500"/>
          </a:xfrm>
          <a:prstGeom prst="rect">
            <a:avLst/>
          </a:prstGeom>
          <a:noFill/>
          <a:ln>
            <a:noFill/>
          </a:ln>
        </p:spPr>
      </p:pic>
      <p:sp>
        <p:nvSpPr>
          <p:cNvPr id="280" name="Google Shape;280;p9"/>
          <p:cNvSpPr txBox="1"/>
          <p:nvPr/>
        </p:nvSpPr>
        <p:spPr>
          <a:xfrm>
            <a:off x="3095625" y="1190625"/>
            <a:ext cx="5572200" cy="2859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950" b="1">
                <a:solidFill>
                  <a:srgbClr val="64748B"/>
                </a:solidFill>
                <a:latin typeface="Arial"/>
                <a:ea typeface="Arial"/>
                <a:cs typeface="Arial"/>
                <a:sym typeface="Arial"/>
              </a:rPr>
              <a:t>PROJECT GANTT CHART: HYBRID LSTM-XGBOOST FORECASTING</a:t>
            </a:r>
            <a:endParaRPr sz="950" b="1">
              <a:solidFill>
                <a:srgbClr val="64748B"/>
              </a:solidFill>
              <a:latin typeface="Arial"/>
              <a:ea typeface="Arial"/>
              <a:cs typeface="Arial"/>
              <a:sym typeface="Arial"/>
            </a:endParaRPr>
          </a:p>
        </p:txBody>
      </p:sp>
      <p:pic>
        <p:nvPicPr>
          <p:cNvPr id="281" name="Google Shape;281;p9"/>
          <p:cNvPicPr preferRelativeResize="0"/>
          <p:nvPr/>
        </p:nvPicPr>
        <p:blipFill rotWithShape="1">
          <a:blip r:embed="rId5">
            <a:alphaModFix/>
          </a:blip>
          <a:srcRect b="10"/>
          <a:stretch/>
        </p:blipFill>
        <p:spPr>
          <a:xfrm>
            <a:off x="3238500" y="1571625"/>
            <a:ext cx="5286300" cy="2276400"/>
          </a:xfrm>
          <a:prstGeom prst="rect">
            <a:avLst/>
          </a:prstGeom>
          <a:noFill/>
          <a:ln>
            <a:noFill/>
          </a:ln>
        </p:spPr>
      </p:pic>
      <p:sp>
        <p:nvSpPr>
          <p:cNvPr id="282" name="Google Shape;282;p9"/>
          <p:cNvSpPr/>
          <p:nvPr/>
        </p:nvSpPr>
        <p:spPr>
          <a:xfrm>
            <a:off x="447675" y="1257300"/>
            <a:ext cx="152400" cy="152400"/>
          </a:xfrm>
          <a:prstGeom prst="ellipse">
            <a:avLst/>
          </a:prstGeom>
          <a:solidFill>
            <a:srgbClr val="0284C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3" name="Google Shape;283;p9"/>
          <p:cNvSpPr/>
          <p:nvPr/>
        </p:nvSpPr>
        <p:spPr>
          <a:xfrm>
            <a:off x="447675" y="1971675"/>
            <a:ext cx="152400" cy="152400"/>
          </a:xfrm>
          <a:prstGeom prst="ellipse">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4" name="Google Shape;284;p9"/>
          <p:cNvSpPr/>
          <p:nvPr/>
        </p:nvSpPr>
        <p:spPr>
          <a:xfrm>
            <a:off x="447675" y="2686050"/>
            <a:ext cx="152400" cy="152400"/>
          </a:xfrm>
          <a:prstGeom prst="ellipse">
            <a:avLst/>
          </a:prstGeom>
          <a:solidFill>
            <a:srgbClr val="4F46E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5" name="Google Shape;285;p9"/>
          <p:cNvSpPr/>
          <p:nvPr/>
        </p:nvSpPr>
        <p:spPr>
          <a:xfrm>
            <a:off x="447675" y="3400425"/>
            <a:ext cx="152400" cy="152400"/>
          </a:xfrm>
          <a:prstGeom prst="ellipse">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6" name="Google Shape;286;p9"/>
          <p:cNvSpPr/>
          <p:nvPr/>
        </p:nvSpPr>
        <p:spPr>
          <a:xfrm>
            <a:off x="447675" y="4114800"/>
            <a:ext cx="152400" cy="152400"/>
          </a:xfrm>
          <a:prstGeom prst="ellipse">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7" name="Google Shape;287;p9"/>
          <p:cNvSpPr txBox="1"/>
          <p:nvPr/>
        </p:nvSpPr>
        <p:spPr>
          <a:xfrm>
            <a:off x="714375" y="1162050"/>
            <a:ext cx="2190900" cy="428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100" b="1">
                <a:solidFill>
                  <a:srgbClr val="38BDF8"/>
                </a:solidFill>
                <a:latin typeface="Arial"/>
                <a:ea typeface="Arial"/>
                <a:cs typeface="Arial"/>
                <a:sym typeface="Arial"/>
              </a:rPr>
              <a:t>WEEKS 1–3 </a:t>
            </a:r>
            <a:r>
              <a:rPr lang="en-GB" sz="950" b="0">
                <a:solidFill>
                  <a:srgbClr val="10B981"/>
                </a:solidFill>
                <a:latin typeface="Arial"/>
                <a:ea typeface="Arial"/>
                <a:cs typeface="Arial"/>
                <a:sym typeface="Arial"/>
              </a:rPr>
              <a:t>(Completed)</a:t>
            </a:r>
            <a:endParaRPr sz="1100" b="1">
              <a:solidFill>
                <a:srgbClr val="38BDF8"/>
              </a:solidFill>
              <a:latin typeface="Arial"/>
              <a:ea typeface="Arial"/>
              <a:cs typeface="Arial"/>
              <a:sym typeface="Arial"/>
            </a:endParaRPr>
          </a:p>
          <a:p>
            <a:pPr marL="0" lvl="0" indent="0" algn="l" rtl="0">
              <a:spcBef>
                <a:spcPts val="150"/>
              </a:spcBef>
              <a:spcAft>
                <a:spcPts val="0"/>
              </a:spcAft>
              <a:buNone/>
            </a:pPr>
            <a:r>
              <a:rPr lang="en-GB" sz="950" b="0">
                <a:solidFill>
                  <a:srgbClr val="94A3B8"/>
                </a:solidFill>
                <a:latin typeface="Arial"/>
                <a:ea typeface="Arial"/>
                <a:cs typeface="Arial"/>
                <a:sym typeface="Arial"/>
              </a:rPr>
              <a:t>Research question, literature review</a:t>
            </a:r>
            <a:endParaRPr sz="950" b="0">
              <a:solidFill>
                <a:srgbClr val="94A3B8"/>
              </a:solidFill>
              <a:latin typeface="Arial"/>
              <a:ea typeface="Arial"/>
              <a:cs typeface="Arial"/>
              <a:sym typeface="Arial"/>
            </a:endParaRPr>
          </a:p>
        </p:txBody>
      </p:sp>
      <p:sp>
        <p:nvSpPr>
          <p:cNvPr id="288" name="Google Shape;288;p9"/>
          <p:cNvSpPr txBox="1"/>
          <p:nvPr/>
        </p:nvSpPr>
        <p:spPr>
          <a:xfrm>
            <a:off x="714375" y="1876425"/>
            <a:ext cx="2190900" cy="428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100" b="1">
                <a:solidFill>
                  <a:srgbClr val="2DD4BF"/>
                </a:solidFill>
                <a:latin typeface="Arial"/>
                <a:ea typeface="Arial"/>
                <a:cs typeface="Arial"/>
                <a:sym typeface="Arial"/>
              </a:rPr>
              <a:t>WEEKS 4–6</a:t>
            </a:r>
            <a:endParaRPr sz="1100" b="1">
              <a:solidFill>
                <a:srgbClr val="2DD4BF"/>
              </a:solidFill>
              <a:latin typeface="Arial"/>
              <a:ea typeface="Arial"/>
              <a:cs typeface="Arial"/>
              <a:sym typeface="Arial"/>
            </a:endParaRPr>
          </a:p>
          <a:p>
            <a:pPr marL="0" lvl="0" indent="0" algn="l" rtl="0">
              <a:spcBef>
                <a:spcPts val="150"/>
              </a:spcBef>
              <a:spcAft>
                <a:spcPts val="0"/>
              </a:spcAft>
              <a:buNone/>
            </a:pPr>
            <a:r>
              <a:rPr lang="en-GB" sz="950" b="0">
                <a:solidFill>
                  <a:srgbClr val="94A3B8"/>
                </a:solidFill>
                <a:latin typeface="Arial"/>
                <a:ea typeface="Arial"/>
                <a:cs typeface="Arial"/>
                <a:sym typeface="Arial"/>
              </a:rPr>
              <a:t>Dataset finalization &amp; SARIMA</a:t>
            </a:r>
            <a:endParaRPr sz="950" b="0">
              <a:solidFill>
                <a:srgbClr val="94A3B8"/>
              </a:solidFill>
              <a:latin typeface="Arial"/>
              <a:ea typeface="Arial"/>
              <a:cs typeface="Arial"/>
              <a:sym typeface="Arial"/>
            </a:endParaRPr>
          </a:p>
        </p:txBody>
      </p:sp>
      <p:sp>
        <p:nvSpPr>
          <p:cNvPr id="289" name="Google Shape;289;p9"/>
          <p:cNvSpPr txBox="1"/>
          <p:nvPr/>
        </p:nvSpPr>
        <p:spPr>
          <a:xfrm>
            <a:off x="714375" y="2590800"/>
            <a:ext cx="2190900" cy="428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100" b="1">
                <a:solidFill>
                  <a:srgbClr val="818CF8"/>
                </a:solidFill>
                <a:latin typeface="Arial"/>
                <a:ea typeface="Arial"/>
                <a:cs typeface="Arial"/>
                <a:sym typeface="Arial"/>
              </a:rPr>
              <a:t>WEEKS 7–10</a:t>
            </a:r>
            <a:endParaRPr sz="1100" b="1">
              <a:solidFill>
                <a:srgbClr val="818CF8"/>
              </a:solidFill>
              <a:latin typeface="Arial"/>
              <a:ea typeface="Arial"/>
              <a:cs typeface="Arial"/>
              <a:sym typeface="Arial"/>
            </a:endParaRPr>
          </a:p>
          <a:p>
            <a:pPr marL="0" lvl="0" indent="0" algn="l" rtl="0">
              <a:spcBef>
                <a:spcPts val="150"/>
              </a:spcBef>
              <a:spcAft>
                <a:spcPts val="0"/>
              </a:spcAft>
              <a:buNone/>
            </a:pPr>
            <a:r>
              <a:rPr lang="en-GB" sz="950" b="0">
                <a:solidFill>
                  <a:srgbClr val="94A3B8"/>
                </a:solidFill>
                <a:latin typeface="Arial"/>
                <a:ea typeface="Arial"/>
                <a:cs typeface="Arial"/>
                <a:sym typeface="Arial"/>
              </a:rPr>
              <a:t>LSTM, XGBoost &amp; hybrid training</a:t>
            </a:r>
            <a:endParaRPr sz="950" b="0">
              <a:solidFill>
                <a:srgbClr val="94A3B8"/>
              </a:solidFill>
              <a:latin typeface="Arial"/>
              <a:ea typeface="Arial"/>
              <a:cs typeface="Arial"/>
              <a:sym typeface="Arial"/>
            </a:endParaRPr>
          </a:p>
        </p:txBody>
      </p:sp>
      <p:sp>
        <p:nvSpPr>
          <p:cNvPr id="290" name="Google Shape;290;p9"/>
          <p:cNvSpPr txBox="1"/>
          <p:nvPr/>
        </p:nvSpPr>
        <p:spPr>
          <a:xfrm>
            <a:off x="714375" y="3305175"/>
            <a:ext cx="2190900" cy="428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100" b="1">
                <a:solidFill>
                  <a:srgbClr val="FBBF24"/>
                </a:solidFill>
                <a:latin typeface="Arial"/>
                <a:ea typeface="Arial"/>
                <a:cs typeface="Arial"/>
                <a:sym typeface="Arial"/>
              </a:rPr>
              <a:t>WEEKS 10–13</a:t>
            </a:r>
            <a:endParaRPr sz="1100" b="1">
              <a:solidFill>
                <a:srgbClr val="FBBF24"/>
              </a:solidFill>
              <a:latin typeface="Arial"/>
              <a:ea typeface="Arial"/>
              <a:cs typeface="Arial"/>
              <a:sym typeface="Arial"/>
            </a:endParaRPr>
          </a:p>
          <a:p>
            <a:pPr marL="0" lvl="0" indent="0" algn="l" rtl="0">
              <a:spcBef>
                <a:spcPts val="150"/>
              </a:spcBef>
              <a:spcAft>
                <a:spcPts val="0"/>
              </a:spcAft>
              <a:buNone/>
            </a:pPr>
            <a:r>
              <a:rPr lang="en-GB" sz="950" b="0">
                <a:solidFill>
                  <a:srgbClr val="94A3B8"/>
                </a:solidFill>
                <a:latin typeface="Arial"/>
                <a:ea typeface="Arial"/>
                <a:cs typeface="Arial"/>
                <a:sym typeface="Arial"/>
              </a:rPr>
              <a:t>Evaluation, testing &amp; SHAP analysis</a:t>
            </a:r>
            <a:endParaRPr sz="950" b="0">
              <a:solidFill>
                <a:srgbClr val="94A3B8"/>
              </a:solidFill>
              <a:latin typeface="Arial"/>
              <a:ea typeface="Arial"/>
              <a:cs typeface="Arial"/>
              <a:sym typeface="Arial"/>
            </a:endParaRPr>
          </a:p>
        </p:txBody>
      </p:sp>
      <p:sp>
        <p:nvSpPr>
          <p:cNvPr id="291" name="Google Shape;291;p9"/>
          <p:cNvSpPr txBox="1"/>
          <p:nvPr/>
        </p:nvSpPr>
        <p:spPr>
          <a:xfrm>
            <a:off x="714375" y="4019550"/>
            <a:ext cx="2190900" cy="4287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GB" sz="1100" b="1">
                <a:solidFill>
                  <a:srgbClr val="F87171"/>
                </a:solidFill>
                <a:latin typeface="Arial"/>
                <a:ea typeface="Arial"/>
                <a:cs typeface="Arial"/>
                <a:sym typeface="Arial"/>
              </a:rPr>
              <a:t>WEEK 14–15</a:t>
            </a:r>
            <a:endParaRPr sz="1100" b="1">
              <a:solidFill>
                <a:srgbClr val="F87171"/>
              </a:solidFill>
              <a:latin typeface="Arial"/>
              <a:ea typeface="Arial"/>
              <a:cs typeface="Arial"/>
              <a:sym typeface="Arial"/>
            </a:endParaRPr>
          </a:p>
          <a:p>
            <a:pPr marL="0" lvl="0" indent="0" algn="l" rtl="0">
              <a:spcBef>
                <a:spcPts val="150"/>
              </a:spcBef>
              <a:spcAft>
                <a:spcPts val="0"/>
              </a:spcAft>
              <a:buNone/>
            </a:pPr>
            <a:r>
              <a:rPr lang="en-GB" sz="950" b="0">
                <a:solidFill>
                  <a:srgbClr val="94A3B8"/>
                </a:solidFill>
                <a:latin typeface="Arial"/>
                <a:ea typeface="Arial"/>
                <a:cs typeface="Arial"/>
                <a:sym typeface="Arial"/>
              </a:rPr>
              <a:t>Final report &amp; presentation delivery</a:t>
            </a:r>
            <a:endParaRPr sz="950" b="0">
              <a:solidFill>
                <a:srgbClr val="94A3B8"/>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5"/>
        <p:cNvGrpSpPr/>
        <p:nvPr/>
      </p:nvGrpSpPr>
      <p:grpSpPr>
        <a:xfrm>
          <a:off x="0" y="0"/>
          <a:ext cx="0" cy="0"/>
          <a:chOff x="0" y="0"/>
          <a:chExt cx="0" cy="0"/>
        </a:xfrm>
      </p:grpSpPr>
      <p:grpSp>
        <p:nvGrpSpPr>
          <p:cNvPr id="296" name="Google Shape;296;g3f830a837a6_0_3313"/>
          <p:cNvGrpSpPr/>
          <p:nvPr/>
        </p:nvGrpSpPr>
        <p:grpSpPr>
          <a:xfrm>
            <a:off x="4276725" y="1260087"/>
            <a:ext cx="4934100" cy="3883563"/>
            <a:chOff x="4276725" y="1260087"/>
            <a:chExt cx="4934100" cy="3883563"/>
          </a:xfrm>
        </p:grpSpPr>
        <p:pic>
          <p:nvPicPr>
            <p:cNvPr id="297" name="Google Shape;297;g3f830a837a6_0_3313"/>
            <p:cNvPicPr preferRelativeResize="0"/>
            <p:nvPr/>
          </p:nvPicPr>
          <p:blipFill rotWithShape="1">
            <a:blip r:embed="rId4">
              <a:alphaModFix/>
            </a:blip>
            <a:srcRect/>
            <a:stretch/>
          </p:blipFill>
          <p:spPr>
            <a:xfrm>
              <a:off x="4286250" y="2000250"/>
              <a:ext cx="4857900" cy="3143400"/>
            </a:xfrm>
            <a:prstGeom prst="rect">
              <a:avLst/>
            </a:prstGeom>
            <a:noFill/>
            <a:ln>
              <a:noFill/>
            </a:ln>
          </p:spPr>
        </p:pic>
        <p:pic>
          <p:nvPicPr>
            <p:cNvPr id="298" name="Google Shape;298;g3f830a837a6_0_3313"/>
            <p:cNvPicPr preferRelativeResize="0"/>
            <p:nvPr/>
          </p:nvPicPr>
          <p:blipFill rotWithShape="1">
            <a:blip r:embed="rId5">
              <a:alphaModFix/>
            </a:blip>
            <a:srcRect/>
            <a:stretch/>
          </p:blipFill>
          <p:spPr>
            <a:xfrm>
              <a:off x="4276725" y="1990725"/>
              <a:ext cx="4867200" cy="3152700"/>
            </a:xfrm>
            <a:prstGeom prst="rect">
              <a:avLst/>
            </a:prstGeom>
            <a:noFill/>
            <a:ln>
              <a:noFill/>
            </a:ln>
          </p:spPr>
        </p:pic>
        <p:sp>
          <p:nvSpPr>
            <p:cNvPr id="299" name="Google Shape;299;g3f830a837a6_0_3313"/>
            <p:cNvSpPr/>
            <p:nvPr/>
          </p:nvSpPr>
          <p:spPr>
            <a:xfrm>
              <a:off x="4905375" y="3952875"/>
              <a:ext cx="95400" cy="95400"/>
            </a:xfrm>
            <a:prstGeom prst="ellipse">
              <a:avLst/>
            </a:prstGeom>
            <a:solidFill>
              <a:srgbClr val="0D9488">
                <a:alpha val="3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0" name="Google Shape;300;g3f830a837a6_0_3313"/>
            <p:cNvSpPr/>
            <p:nvPr/>
          </p:nvSpPr>
          <p:spPr>
            <a:xfrm>
              <a:off x="6810375" y="3095625"/>
              <a:ext cx="95400" cy="95400"/>
            </a:xfrm>
            <a:prstGeom prst="ellipse">
              <a:avLst/>
            </a:prstGeom>
            <a:solidFill>
              <a:srgbClr val="4F46E5">
                <a:alpha val="3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1" name="Google Shape;301;g3f830a837a6_0_3313"/>
            <p:cNvSpPr/>
            <p:nvPr/>
          </p:nvSpPr>
          <p:spPr>
            <a:xfrm>
              <a:off x="9077325" y="1933575"/>
              <a:ext cx="133500" cy="133500"/>
            </a:xfrm>
            <a:prstGeom prst="ellipse">
              <a:avLst/>
            </a:prstGeom>
            <a:solidFill>
              <a:srgbClr val="0284C7">
                <a:alpha val="4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302" name="Google Shape;302;g3f830a837a6_0_3313"/>
            <p:cNvGrpSpPr/>
            <p:nvPr/>
          </p:nvGrpSpPr>
          <p:grpSpPr>
            <a:xfrm rot="-900104">
              <a:off x="7249026" y="1343489"/>
              <a:ext cx="742122" cy="742122"/>
              <a:chOff x="-390525" y="-390525"/>
              <a:chExt cx="781200" cy="781200"/>
            </a:xfrm>
          </p:grpSpPr>
          <p:pic>
            <p:nvPicPr>
              <p:cNvPr id="303" name="Google Shape;303;g3f830a837a6_0_3313"/>
              <p:cNvPicPr preferRelativeResize="0"/>
              <p:nvPr/>
            </p:nvPicPr>
            <p:blipFill rotWithShape="1">
              <a:blip r:embed="rId6">
                <a:alphaModFix/>
              </a:blip>
              <a:srcRect/>
              <a:stretch/>
            </p:blipFill>
            <p:spPr>
              <a:xfrm>
                <a:off x="-142875" y="-333375"/>
                <a:ext cx="381000" cy="352500"/>
              </a:xfrm>
              <a:prstGeom prst="rect">
                <a:avLst/>
              </a:prstGeom>
              <a:noFill/>
              <a:ln>
                <a:noFill/>
              </a:ln>
            </p:spPr>
          </p:pic>
          <p:pic>
            <p:nvPicPr>
              <p:cNvPr id="304" name="Google Shape;304;g3f830a837a6_0_3313"/>
              <p:cNvPicPr preferRelativeResize="0"/>
              <p:nvPr/>
            </p:nvPicPr>
            <p:blipFill rotWithShape="1">
              <a:blip r:embed="rId7">
                <a:alphaModFix/>
              </a:blip>
              <a:srcRect/>
              <a:stretch/>
            </p:blipFill>
            <p:spPr>
              <a:xfrm>
                <a:off x="-238125" y="-19050"/>
                <a:ext cx="381000" cy="352500"/>
              </a:xfrm>
              <a:prstGeom prst="rect">
                <a:avLst/>
              </a:prstGeom>
              <a:noFill/>
              <a:ln>
                <a:noFill/>
              </a:ln>
            </p:spPr>
          </p:pic>
          <p:pic>
            <p:nvPicPr>
              <p:cNvPr id="305" name="Google Shape;305;g3f830a837a6_0_3313"/>
              <p:cNvPicPr preferRelativeResize="0"/>
              <p:nvPr/>
            </p:nvPicPr>
            <p:blipFill rotWithShape="1">
              <a:blip r:embed="rId8">
                <a:alphaModFix/>
              </a:blip>
              <a:srcRect/>
              <a:stretch/>
            </p:blipFill>
            <p:spPr>
              <a:xfrm>
                <a:off x="-390525" y="-390525"/>
                <a:ext cx="781200" cy="781200"/>
              </a:xfrm>
              <a:prstGeom prst="rect">
                <a:avLst/>
              </a:prstGeom>
              <a:noFill/>
              <a:ln>
                <a:noFill/>
              </a:ln>
            </p:spPr>
          </p:pic>
        </p:grpSp>
      </p:grpSp>
      <p:grpSp>
        <p:nvGrpSpPr>
          <p:cNvPr id="306" name="Google Shape;306;g3f830a837a6_0_3313"/>
          <p:cNvGrpSpPr/>
          <p:nvPr/>
        </p:nvGrpSpPr>
        <p:grpSpPr>
          <a:xfrm>
            <a:off x="952500" y="1619250"/>
            <a:ext cx="4762500" cy="2000250"/>
            <a:chOff x="0" y="1619250"/>
            <a:chExt cx="4762500" cy="2000250"/>
          </a:xfrm>
        </p:grpSpPr>
        <p:sp>
          <p:nvSpPr>
            <p:cNvPr id="307" name="Google Shape;307;g3f830a837a6_0_3313"/>
            <p:cNvSpPr txBox="1"/>
            <p:nvPr/>
          </p:nvSpPr>
          <p:spPr>
            <a:xfrm>
              <a:off x="0" y="1619250"/>
              <a:ext cx="4762500" cy="952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4200" b="0">
                  <a:solidFill>
                    <a:srgbClr val="0F172A"/>
                  </a:solidFill>
                  <a:latin typeface="Montserrat ExtraBold"/>
                  <a:ea typeface="Montserrat ExtraBold"/>
                  <a:cs typeface="Montserrat ExtraBold"/>
                  <a:sym typeface="Montserrat ExtraBold"/>
                </a:rPr>
                <a:t>Thank you!</a:t>
              </a:r>
              <a:endParaRPr sz="4200" b="0">
                <a:solidFill>
                  <a:srgbClr val="0F172A"/>
                </a:solidFill>
                <a:latin typeface="Montserrat ExtraBold"/>
                <a:ea typeface="Montserrat ExtraBold"/>
                <a:cs typeface="Montserrat ExtraBold"/>
                <a:sym typeface="Montserrat ExtraBold"/>
              </a:endParaRPr>
            </a:p>
          </p:txBody>
        </p:sp>
        <p:sp>
          <p:nvSpPr>
            <p:cNvPr id="308" name="Google Shape;308;g3f830a837a6_0_3313"/>
            <p:cNvSpPr txBox="1"/>
            <p:nvPr/>
          </p:nvSpPr>
          <p:spPr>
            <a:xfrm>
              <a:off x="0" y="2667000"/>
              <a:ext cx="4762500" cy="952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400" b="1">
                  <a:solidFill>
                    <a:srgbClr val="0F172A"/>
                  </a:solidFill>
                  <a:latin typeface="Arial"/>
                  <a:ea typeface="Arial"/>
                  <a:cs typeface="Arial"/>
                  <a:sym typeface="Arial"/>
                </a:rPr>
                <a:t>S M K I Wijethunga</a:t>
              </a:r>
              <a:endParaRPr sz="1400" b="1">
                <a:solidFill>
                  <a:srgbClr val="0F172A"/>
                </a:solidFill>
                <a:latin typeface="Arial"/>
                <a:ea typeface="Arial"/>
                <a:cs typeface="Arial"/>
                <a:sym typeface="Arial"/>
              </a:endParaRPr>
            </a:p>
            <a:p>
              <a:pPr marL="0" lvl="0" indent="0" algn="l" rtl="0">
                <a:spcBef>
                  <a:spcPts val="600"/>
                </a:spcBef>
                <a:spcAft>
                  <a:spcPts val="0"/>
                </a:spcAft>
                <a:buNone/>
              </a:pPr>
              <a:r>
                <a:rPr lang="en-GB" sz="1400" b="0">
                  <a:solidFill>
                    <a:srgbClr val="64748B"/>
                  </a:solidFill>
                  <a:latin typeface="Arial"/>
                  <a:ea typeface="Arial"/>
                  <a:cs typeface="Arial"/>
                  <a:sym typeface="Arial"/>
                </a:rPr>
                <a:t>KIC-BSCCSAI-251P-034</a:t>
              </a:r>
              <a:endParaRPr sz="1400" b="0">
                <a:solidFill>
                  <a:srgbClr val="64748B"/>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1140</Words>
  <Application>Microsoft Office PowerPoint</Application>
  <PresentationFormat>On-screen Show (16:9)</PresentationFormat>
  <Paragraphs>115</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Montserrat ExtraBold</vt:lpstr>
      <vt:lpstr>Material Icons</vt:lpstr>
      <vt:lpstr>Inter</vt:lpstr>
      <vt:lpstr>Arial</vt:lpstr>
      <vt:lpstr>Inter SemiBold</vt:lpstr>
      <vt:lpstr>Inter Medium</vt:lpstr>
      <vt:lpstr>Montserrat</vt:lpstr>
      <vt:lpstr>Simple Light</vt:lpstr>
      <vt:lpstr>PowerPoint Presentation</vt:lpstr>
      <vt:lpstr>PowerPoint Presentation</vt:lpstr>
      <vt:lpstr>Research Problem &amp; Gap</vt:lpstr>
      <vt:lpstr>PowerPoint Presentation</vt:lpstr>
      <vt:lpstr>PowerPoint Presentation</vt:lpstr>
      <vt:lpstr>The Hybrid Model, Explained Simply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KAVIDU ISURA</dc:creator>
  <cp:lastModifiedBy>WIJETHUNGA S M K I</cp:lastModifiedBy>
  <cp:revision>1</cp:revision>
  <dcterms:modified xsi:type="dcterms:W3CDTF">2026-07-18T16:45:01Z</dcterms:modified>
</cp:coreProperties>
</file>